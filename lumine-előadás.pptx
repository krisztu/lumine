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9" r:id="rId4"/>
    <p:sldId id="260" r:id="rId5"/>
    <p:sldId id="258" r:id="rId6"/>
    <p:sldId id="262" r:id="rId7"/>
    <p:sldId id="274" r:id="rId8"/>
    <p:sldId id="278" r:id="rId9"/>
    <p:sldId id="275" r:id="rId10"/>
    <p:sldId id="279" r:id="rId11"/>
    <p:sldId id="276" r:id="rId12"/>
    <p:sldId id="263" r:id="rId13"/>
    <p:sldId id="282" r:id="rId14"/>
    <p:sldId id="281" r:id="rId15"/>
    <p:sldId id="280" r:id="rId16"/>
    <p:sldId id="286" r:id="rId17"/>
    <p:sldId id="284" r:id="rId18"/>
    <p:sldId id="287" r:id="rId19"/>
    <p:sldId id="289" r:id="rId20"/>
    <p:sldId id="288" r:id="rId21"/>
    <p:sldId id="273" r:id="rId22"/>
    <p:sldId id="291" r:id="rId23"/>
    <p:sldId id="292" r:id="rId24"/>
    <p:sldId id="293" r:id="rId25"/>
    <p:sldId id="294" r:id="rId26"/>
    <p:sldId id="295" r:id="rId27"/>
    <p:sldId id="265" r:id="rId28"/>
    <p:sldId id="296" r:id="rId29"/>
    <p:sldId id="266" r:id="rId30"/>
    <p:sldId id="267" r:id="rId31"/>
    <p:sldId id="268" r:id="rId32"/>
    <p:sldId id="297" r:id="rId33"/>
    <p:sldId id="269" r:id="rId34"/>
    <p:sldId id="271" r:id="rId35"/>
    <p:sldId id="298" r:id="rId36"/>
    <p:sldId id="299" r:id="rId37"/>
    <p:sldId id="27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72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9AA6B-39D4-9A21-391C-0238C07F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2102D-C440-E1EC-5FD5-4FA597263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E9E74-FD85-5DD1-744D-CDF038350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41515-1207-7B5C-A963-C9E4BBA28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88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E84F-40C4-5EEC-F4F0-8FA2F1D6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61C2F-2C31-7C48-7B15-823B97B10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4F9BD-7896-48C1-6FAA-20DBD39BA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4DF52-858F-8EAF-EA6B-B25FC835A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793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1AD11-8F44-A1AA-2389-3C9F7913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674A1-788C-8C3B-89EF-BB4A7B19B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A9C0D-4B8D-F95A-06C0-487F9668F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898E-7F9A-B3A0-8174-EAEFE2642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26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979A3-D0E5-71B5-9A5A-16CCF5328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7CF2F-1A88-2250-3C12-62047F53C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C32CC-6860-F359-0FC7-BD9494F4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A3838-016B-EF64-EAEE-50355907A2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89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72350-ACCE-D1D9-7997-9687CCDF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9C7F3-E06E-F1E7-596F-32CDBC516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F0999-8AC5-A684-0431-DEBFF3E96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32DA6-84A1-33B1-43B4-4C7ACE3AC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83D0-62D2-7DAA-FF33-BB320D53F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13AA39-0AA4-F399-77FA-056592005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15543-4C2E-959A-68B5-0565130D0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7927-3C4D-A9EF-0286-D144045EB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916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3489-07B5-8B4D-C82F-81266660B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4C968-643C-C116-FE29-D849903F1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ADD49-0D8C-BEB6-9DB5-00213E0FD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CCDEF-C85F-CA8F-C168-C903A7CC3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76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1B5C-9DD7-B56B-4519-3B1AD328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62980-A1D2-1979-18B7-9660332AA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10075-E9DB-3724-8D7E-7D20690F8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6658D-E4D2-23BD-73F0-168BE98C8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85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A10EF-9268-099E-C3DA-DFC66F9A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8B729-D9D5-F57F-23E0-6A8D6CC68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C31E6-DDBF-364E-86A2-95249A63A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1F37E-CC9E-8239-D7FB-32A9A77F7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96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5B76E-D9D2-EA8A-5547-808D4520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99E15-08FA-BE69-381B-367CF7728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40406-2102-3CB0-331E-EE7F6D051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71DB9-BCD1-AC00-BA55-8DD6B3788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28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3594-9612-434A-FCD5-D94372B5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13BEF-A341-2703-8518-407F92B28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7A5F2-FA14-26F6-FC15-970A48959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F271B-4F95-92DF-0878-384AAC945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4FFB-8ADA-8CEF-4991-2FE6FFFC8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3E656-F237-2196-8C1D-4F22D7F16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6A774-5691-6722-95C1-B181D370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2110E-0CF4-04DE-801F-46227F9A3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363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CF741-D787-F570-0A73-FB38311BC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CED8F-1E4C-B084-537D-0D51D93EB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6A6BC-6DDC-2594-0456-EA7C7E280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C1E42-079B-CDCB-FD3B-969F42DEB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82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2F91-73C3-AA60-EB08-CADBD476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E6526-6187-2446-C929-22B4153D9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47E82-396A-5AB3-1C88-9D8AA3C10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C0B87-0530-F651-0F5F-F8441BE71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048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BE7D-4927-2384-8064-4725C65B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25C00-2E8A-08D7-237B-EFE1A4CD0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A54A5-230E-4A44-F994-1843B27C9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34F3A-5006-E07B-D0A2-D4A47C4230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06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51A1-2329-25A1-0972-0CA7870D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E9430-173C-AFEB-7D29-6DF6019B7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858F0-3133-D415-1F64-4F914A333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64D8F-0706-DF9F-C4F2-B45A90763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58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7F5B4-5B41-E371-FA41-07A64E19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D8153C-D008-6CC2-E9F8-32B9990A6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C034A-A141-4CBF-B7D3-076C1FEEE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F20D-5077-6CB9-6500-720E479BA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23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1CD9-4057-AAB2-7780-4AE3D8FA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8784C-3847-D46C-951A-B763A9F97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A9809-F41F-6759-6F4D-EF00E113F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EFE08-7C11-4756-39A4-462AF15B7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605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241D5-F186-77AF-C179-73D4D17F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4E265-96C6-843F-D5F0-797270C72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83FC97-600E-31C2-80C6-35CBAECEA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6F4CA-C869-423A-25D2-3679AED27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99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730CD-0018-D9D5-1B74-F83FF9DC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90118-18DE-9456-8E01-871631AA8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CA025-875E-9F7E-F145-3A954E60F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55176-103E-ACF1-093D-3D4EDF516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485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8BA5-15B6-5928-C0FE-FCFB374FF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983B0-2D99-8B9E-CB6D-B2B6DB725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EC00F-A69D-3A61-C789-3B667055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60BB5-C1AC-77A4-B363-05C2522C34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130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1579-838C-A602-945C-A6A5C75A8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04A84-E16D-152E-3F29-89948C181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F0655-D7BD-8AF4-14F4-E2A5CFFB9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4659F-349C-41DE-050D-8BE579E8A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54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5058-5ABF-B4AC-0D9D-CF50EB14C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94CD9-5B5E-21F9-FDAB-B31340022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C1773-65F5-08A4-58D7-4481A6FD5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B4974-CB71-04D4-EA52-1F78732AF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790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umine-project.vercel.app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52108" y="1740621"/>
            <a:ext cx="23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2E29"/>
                </a:solidFill>
              </a:rPr>
              <a:t>Luminé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6487" y="2828109"/>
            <a:ext cx="4752198" cy="678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7A72"/>
                </a:solidFill>
              </a:rPr>
              <a:t>Iskolai Adminisztrációs Rendszer   2025/2026</a:t>
            </a:r>
            <a:endParaRPr lang="hu-HU" sz="1500" dirty="0">
              <a:solidFill>
                <a:srgbClr val="5A7A72"/>
              </a:solidFill>
            </a:endParaRPr>
          </a:p>
          <a:p>
            <a:pPr marL="0" indent="0">
              <a:buNone/>
            </a:pPr>
            <a:r>
              <a:rPr lang="hu-HU" sz="1500" dirty="0">
                <a:solidFill>
                  <a:srgbClr val="5A7A72"/>
                </a:solidFill>
              </a:rPr>
              <a:t>Készítette: Gaál Levente, Kőszegi Bence, Kurtucz F. Krisztián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0" y="45765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72"/>
                </a:solidFill>
              </a:rPr>
              <a:t>B</a:t>
            </a:r>
            <a:r>
              <a:rPr lang="hu-HU" sz="900" dirty="0">
                <a:solidFill>
                  <a:srgbClr val="5A7A72"/>
                </a:solidFill>
              </a:rPr>
              <a:t>é</a:t>
            </a:r>
            <a:r>
              <a:rPr lang="en-US" sz="900" dirty="0" err="1">
                <a:solidFill>
                  <a:srgbClr val="5A7A72"/>
                </a:solidFill>
              </a:rPr>
              <a:t>késcsabai</a:t>
            </a:r>
            <a:r>
              <a:rPr lang="en-US" sz="900" dirty="0">
                <a:solidFill>
                  <a:srgbClr val="5A7A72"/>
                </a:solidFill>
              </a:rPr>
              <a:t> SZC Nemes Tihamér Technikum és Kollégium</a:t>
            </a:r>
            <a:endParaRPr lang="en-US" sz="900" dirty="0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05C40FCA-81C7-DBB2-51FB-5A55B7A3F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467" y="1061373"/>
            <a:ext cx="2461355" cy="28878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A szoftver célja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3794760" cy="292608"/>
          </a:xfrm>
          <a:prstGeom prst="rect">
            <a:avLst/>
          </a:prstGeom>
          <a:solidFill>
            <a:srgbClr val="FCE8E8"/>
          </a:solidFill>
          <a:ln w="6350">
            <a:solidFill>
              <a:srgbClr val="F5C0C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1A1A"/>
                </a:solidFill>
              </a:rPr>
              <a:t>A probléma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Papíralapú, lassú iskolai folyamatok</a:t>
            </a:r>
            <a:endParaRPr lang="hu-HU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hu-HU" sz="1050" dirty="0">
                <a:solidFill>
                  <a:srgbClr val="1A2E29"/>
                </a:solidFill>
              </a:rPr>
              <a:t>Szétszórt kommunikáció: különböző csatornák, lassú információáramlás 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/>
              <a:t>Nem hatékony jegykezelés: késői visszajelzések 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Elavult design: nem a modern generációk használatát támogatja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794760" cy="292608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356"/>
                </a:solidFill>
              </a:rPr>
              <a:t>A Luminé megoldása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Modern webalapú platform </a:t>
            </a:r>
            <a:r>
              <a:rPr lang="hu-HU" sz="1050" dirty="0">
                <a:solidFill>
                  <a:srgbClr val="1A2E29"/>
                </a:solidFill>
              </a:rPr>
              <a:t>bárhonnan</a:t>
            </a:r>
            <a:r>
              <a:rPr lang="en-US" sz="1050" dirty="0">
                <a:solidFill>
                  <a:srgbClr val="1A2E29"/>
                </a:solidFill>
              </a:rPr>
              <a:t> </a:t>
            </a:r>
            <a:r>
              <a:rPr lang="hu-HU" sz="1050" dirty="0">
                <a:solidFill>
                  <a:srgbClr val="1A2E29"/>
                </a:solidFill>
              </a:rPr>
              <a:t>elérhető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Szerepkör alapú hozzáférés (7 felhasználói típus)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Valós idejű chat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Digitális jegy-, házifeladat- és </a:t>
            </a:r>
            <a:r>
              <a:rPr lang="en-US" sz="1050" dirty="0" err="1">
                <a:solidFill>
                  <a:srgbClr val="1A2E29"/>
                </a:solidFill>
              </a:rPr>
              <a:t>hiányzáskezelés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E29"/>
                </a:solidFill>
              </a:rPr>
              <a:t>Szülői portál gyermek adatainak követéséhez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914400"/>
            <a:ext cx="13716" cy="2743200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8138160" cy="384048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2F6356"/>
                </a:solidFill>
              </a:rPr>
              <a:t>Cél: </a:t>
            </a:r>
            <a:r>
              <a:rPr lang="hu-HU" sz="950" i="1" dirty="0">
                <a:solidFill>
                  <a:srgbClr val="2F6356"/>
                </a:solidFill>
              </a:rPr>
              <a:t>az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oktatási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intézmények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digitális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átalakulásának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támogatás</a:t>
            </a:r>
            <a:r>
              <a:rPr lang="en-US" sz="950" i="1" dirty="0">
                <a:solidFill>
                  <a:srgbClr val="2F6356"/>
                </a:solidFill>
              </a:rPr>
              <a:t> </a:t>
            </a:r>
            <a:r>
              <a:rPr lang="hu-HU" sz="950" i="1" dirty="0">
                <a:solidFill>
                  <a:srgbClr val="2F6356"/>
                </a:solidFill>
              </a:rPr>
              <a:t>egy</a:t>
            </a:r>
            <a:r>
              <a:rPr lang="en-US" sz="950" i="1" dirty="0">
                <a:solidFill>
                  <a:srgbClr val="2F6356"/>
                </a:solidFill>
              </a:rPr>
              <a:t> platformon minden résztvevőnek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Főbb funkciók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619102" cy="405993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640079" y="978408"/>
            <a:ext cx="224494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F6356"/>
                </a:solidFill>
              </a:rPr>
              <a:t>Oktatás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1271016"/>
            <a:ext cx="2382104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2E29"/>
                </a:solidFill>
              </a:rPr>
              <a:t>Jegykezelés automatikus átlagszámítással és statisztikákkal</a:t>
            </a:r>
            <a:endParaRPr lang="hu-HU" sz="1600" dirty="0">
              <a:solidFill>
                <a:srgbClr val="1A2E29"/>
              </a:solidFill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2E29"/>
                </a:solidFill>
              </a:rPr>
              <a:t>Órarend kezelés heti és napi nézettel, helyettesítések jelölésével</a:t>
            </a:r>
            <a:endParaRPr lang="hu-HU" sz="1600" dirty="0">
              <a:solidFill>
                <a:srgbClr val="1A2E29"/>
              </a:solidFill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hu-HU" sz="1600" dirty="0">
                <a:solidFill>
                  <a:srgbClr val="1A2E29"/>
                </a:solidFill>
              </a:rPr>
              <a:t>Hiányzások nyilvántartása és online igazolási rendszer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59180" y="868680"/>
            <a:ext cx="2619102" cy="406979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3357155" y="975795"/>
            <a:ext cx="224494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F6356"/>
                </a:solidFill>
              </a:rPr>
              <a:t>Feladatok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59180" y="1268403"/>
            <a:ext cx="2579917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2E29"/>
                </a:solidFill>
              </a:rPr>
              <a:t>Házi feladatok kiadása, online beadása és értékelése</a:t>
            </a:r>
            <a:endParaRPr lang="hu-HU" sz="1600" dirty="0">
              <a:solidFill>
                <a:srgbClr val="1A2E29"/>
              </a:solidFill>
            </a:endParaRP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2E29"/>
                </a:solidFill>
              </a:rPr>
              <a:t>Viselkedési bejegyzések (dicséret, figyelmeztetés) három szinten</a:t>
            </a:r>
            <a:endParaRPr lang="hu-HU" sz="1600" dirty="0">
              <a:solidFill>
                <a:srgbClr val="1A2E29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37072" y="868680"/>
            <a:ext cx="2619103" cy="405993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074232" y="978408"/>
            <a:ext cx="227748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2F6356"/>
                </a:solidFill>
              </a:rPr>
              <a:t>Rendszer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4232" y="1297142"/>
            <a:ext cx="182880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hu-HU" sz="1600" dirty="0">
                <a:solidFill>
                  <a:srgbClr val="1A2E29"/>
                </a:solidFill>
              </a:rPr>
              <a:t>Valós idejű kommunikáció (chat, üzenőfal)</a:t>
            </a: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hu-HU" sz="1600" dirty="0">
                <a:solidFill>
                  <a:srgbClr val="1A2E29"/>
                </a:solidFill>
              </a:rPr>
              <a:t>QR kódos be- és kiléptetés</a:t>
            </a:r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1A2E29"/>
                </a:solidFill>
              </a:rPr>
              <a:t>Iskolai rádió zenekérés rendszer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200" b="1" dirty="0">
                <a:solidFill>
                  <a:srgbClr val="1A2E29"/>
                </a:solidFill>
              </a:rPr>
              <a:t>Felhasználói szerepkörök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280160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29"/>
                </a:solidFill>
              </a:rPr>
              <a:t>Felhasználók létrehozása, rendszer konfiguráció, teljes hozzáférés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79192" y="932688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2679192" y="932688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2679192" y="932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Igazgató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1280160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29"/>
                </a:solidFill>
              </a:rPr>
              <a:t>Intézményi statisztikák, osztályok áttekintése, pedagógusok kezelése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55464" y="932688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4855464" y="932688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855464" y="932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Tanár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65192" y="1280160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A2E29"/>
                </a:solidFill>
              </a:rPr>
              <a:t>Jegyek rögzítése, házi feladatok kiadása, órarend kezelése</a:t>
            </a:r>
            <a:endParaRPr lang="hu-HU" sz="900" dirty="0">
              <a:solidFill>
                <a:srgbClr val="1A2E29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031736" y="932688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7031736" y="932688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7031736" y="932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</a:rPr>
              <a:t>Osztályfőnök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41464" y="1280160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hu-HU" sz="900" dirty="0">
                <a:solidFill>
                  <a:srgbClr val="1A2E29"/>
                </a:solidFill>
              </a:rPr>
              <a:t>Minden amit a tanár tud és még</a:t>
            </a:r>
            <a:r>
              <a:rPr lang="en-US" sz="900" dirty="0">
                <a:solidFill>
                  <a:srgbClr val="1A2E29"/>
                </a:solidFill>
              </a:rPr>
              <a:t>, hiányzások saját osztály + szülő kommunikáció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423160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502920" y="2423160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502920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Diák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" y="2770632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29"/>
                </a:solidFill>
              </a:rPr>
              <a:t>Saját adatok, értesítések, házi feladatok beadása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79192" y="2423160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2679192" y="2423160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2679192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DJ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88920" y="2770632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29"/>
                </a:solidFill>
              </a:rPr>
              <a:t>Zenekérések kezelése az iskolai rádióhoz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55464" y="2423160"/>
            <a:ext cx="2011680" cy="13258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4855464" y="2423160"/>
            <a:ext cx="2011680" cy="292608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855464" y="2423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Szülő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65192" y="2770632"/>
            <a:ext cx="1792224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29"/>
                </a:solidFill>
              </a:rPr>
              <a:t>Gyermek adatainak, jegyeinek és hiányzásainak nyomon követése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6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Frontend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Frontend megvalósítás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Next.js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35024"/>
            <a:ext cx="127362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App Router, SSR, SSG, API Routes, Image Optimization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3268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8006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React 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335024"/>
            <a:ext cx="115606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Hooks, Context API, Server Components, Suspense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02996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502920" y="202996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40080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432304"/>
            <a:ext cx="162959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Strict mode, típusbiztonság, interface-ek, generikusok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02996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4663440" y="202996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00600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432304"/>
            <a:ext cx="129975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Utility-first, responsive design, dark mode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12724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502920" y="312724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64008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Radix 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529584"/>
            <a:ext cx="146957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Akadálymentes primitívek: Dialog, Select, Tabs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12724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4663440" y="312724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80060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Recharts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529584"/>
            <a:ext cx="148916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Interaktív grafikonok jegy- és statisztikai megjelenítéshez</a:t>
            </a:r>
            <a:endParaRPr lang="en-US" sz="900" dirty="0"/>
          </a:p>
        </p:txBody>
      </p:sp>
      <p:pic>
        <p:nvPicPr>
          <p:cNvPr id="1026" name="Picture 2" descr="Next.js | Drupal.org">
            <a:extLst>
              <a:ext uri="{FF2B5EF4-FFF2-40B4-BE49-F238E27FC236}">
                <a16:creationId xmlns:a16="http://schemas.microsoft.com/office/drawing/2014/main" id="{ABC302A2-17AD-831F-0383-2D9F89BDF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34" y="1011883"/>
            <a:ext cx="748827" cy="74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cript - Wikipedia">
            <a:extLst>
              <a:ext uri="{FF2B5EF4-FFF2-40B4-BE49-F238E27FC236}">
                <a16:creationId xmlns:a16="http://schemas.microsoft.com/office/drawing/2014/main" id="{950D62CA-CFC6-D870-D700-85B682019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915" y="2153983"/>
            <a:ext cx="702946" cy="7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Kép 33">
            <a:extLst>
              <a:ext uri="{FF2B5EF4-FFF2-40B4-BE49-F238E27FC236}">
                <a16:creationId xmlns:a16="http://schemas.microsoft.com/office/drawing/2014/main" id="{EB1A40D3-7B63-C4F5-5313-695081CF73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1799" y="3273552"/>
            <a:ext cx="950245" cy="713232"/>
          </a:xfrm>
          <a:prstGeom prst="rect">
            <a:avLst/>
          </a:prstGeom>
        </p:spPr>
      </p:pic>
      <p:pic>
        <p:nvPicPr>
          <p:cNvPr id="1036" name="Picture 12" descr="React original wordmark logo - free Icon PNG, SVG">
            <a:extLst>
              <a:ext uri="{FF2B5EF4-FFF2-40B4-BE49-F238E27FC236}">
                <a16:creationId xmlns:a16="http://schemas.microsoft.com/office/drawing/2014/main" id="{DBB379A6-E960-FACA-4B09-15D65CF85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245" y="993565"/>
            <a:ext cx="838366" cy="83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Kép 36">
            <a:extLst>
              <a:ext uri="{FF2B5EF4-FFF2-40B4-BE49-F238E27FC236}">
                <a16:creationId xmlns:a16="http://schemas.microsoft.com/office/drawing/2014/main" id="{62F25EE5-2574-2D92-6C70-AF69CBCD87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6557" y="2144921"/>
            <a:ext cx="1364706" cy="767708"/>
          </a:xfrm>
          <a:prstGeom prst="rect">
            <a:avLst/>
          </a:prstGeom>
        </p:spPr>
      </p:pic>
      <p:pic>
        <p:nvPicPr>
          <p:cNvPr id="39" name="Kép 38">
            <a:extLst>
              <a:ext uri="{FF2B5EF4-FFF2-40B4-BE49-F238E27FC236}">
                <a16:creationId xmlns:a16="http://schemas.microsoft.com/office/drawing/2014/main" id="{011AF5AA-E8DE-621F-5E3E-01FE317759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427" y="3419856"/>
            <a:ext cx="133951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FB61B-5283-2A53-358E-1C980339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B6D0FB-A2EA-7CE0-E3A1-99A639E1E89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8B5085-376A-CDF2-437D-A4ECFE88A453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Frontend </a:t>
            </a:r>
            <a:r>
              <a:rPr lang="hu-HU" sz="2200" b="1" dirty="0">
                <a:solidFill>
                  <a:srgbClr val="1A2E29"/>
                </a:solidFill>
              </a:rPr>
              <a:t>műszaki megvalósítását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D6B1EE9-CC90-0469-2BEC-1B8EA6D3F330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0A19250-058C-44AD-1A35-9047A0A31707}"/>
              </a:ext>
            </a:extLst>
          </p:cNvPr>
          <p:cNvSpPr/>
          <p:nvPr/>
        </p:nvSpPr>
        <p:spPr>
          <a:xfrm>
            <a:off x="502920" y="932688"/>
            <a:ext cx="393192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E8806B2-F4CF-2282-E8B4-C26BF35D3AFA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2F05D9-AA0E-6661-F264-766F4BF88577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Komponens alapú felépítés: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554465-AEA7-A744-F29E-3BED6646945B}"/>
              </a:ext>
            </a:extLst>
          </p:cNvPr>
          <p:cNvSpPr/>
          <p:nvPr/>
        </p:nvSpPr>
        <p:spPr>
          <a:xfrm>
            <a:off x="640080" y="1335024"/>
            <a:ext cx="1806920" cy="1236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7A72"/>
                </a:solidFill>
              </a:rPr>
              <a:t>4</a:t>
            </a:r>
            <a:r>
              <a:rPr lang="hu-HU" sz="1600" dirty="0">
                <a:solidFill>
                  <a:srgbClr val="5A7A72"/>
                </a:solidFill>
              </a:rPr>
              <a:t>6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komponenst</a:t>
            </a:r>
            <a:r>
              <a:rPr lang="en-US" sz="1600" dirty="0">
                <a:solidFill>
                  <a:srgbClr val="5A7A72"/>
                </a:solidFill>
              </a:rPr>
              <a:t> (</a:t>
            </a:r>
            <a:r>
              <a:rPr lang="en-US" sz="1600" dirty="0" err="1">
                <a:solidFill>
                  <a:srgbClr val="5A7A72"/>
                </a:solidFill>
              </a:rPr>
              <a:t>AdminDashboard</a:t>
            </a:r>
            <a:r>
              <a:rPr lang="en-US" sz="1600" dirty="0">
                <a:solidFill>
                  <a:srgbClr val="5A7A72"/>
                </a:solidFill>
              </a:rPr>
              <a:t>, </a:t>
            </a:r>
            <a:r>
              <a:rPr lang="en-US" sz="1600" dirty="0" err="1">
                <a:solidFill>
                  <a:srgbClr val="5A7A72"/>
                </a:solidFill>
              </a:rPr>
              <a:t>TeacherDashboard</a:t>
            </a:r>
            <a:r>
              <a:rPr lang="en-US" sz="1600" dirty="0">
                <a:solidFill>
                  <a:srgbClr val="5A7A72"/>
                </a:solidFill>
              </a:rPr>
              <a:t>, </a:t>
            </a:r>
            <a:r>
              <a:rPr lang="en-US" sz="1600" dirty="0" err="1">
                <a:solidFill>
                  <a:srgbClr val="5A7A72"/>
                </a:solidFill>
              </a:rPr>
              <a:t>StudentDashboard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stb</a:t>
            </a:r>
            <a:r>
              <a:rPr lang="en-US" sz="1600" dirty="0">
                <a:solidFill>
                  <a:srgbClr val="5A7A72"/>
                </a:solidFill>
              </a:rPr>
              <a:t>.)</a:t>
            </a:r>
          </a:p>
          <a:p>
            <a:pPr marL="0" indent="0" algn="l">
              <a:buNone/>
            </a:pP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1FA06C7-E85E-4630-F038-6278E8852A42}"/>
              </a:ext>
            </a:extLst>
          </p:cNvPr>
          <p:cNvSpPr/>
          <p:nvPr/>
        </p:nvSpPr>
        <p:spPr>
          <a:xfrm>
            <a:off x="4663440" y="932687"/>
            <a:ext cx="393192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161BAE-EFD4-EB04-EEA6-D7F3C270301F}"/>
              </a:ext>
            </a:extLst>
          </p:cNvPr>
          <p:cNvSpPr/>
          <p:nvPr/>
        </p:nvSpPr>
        <p:spPr>
          <a:xfrm>
            <a:off x="4663440" y="932688"/>
            <a:ext cx="50292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040818-3640-FF06-57EC-17C696A76605}"/>
              </a:ext>
            </a:extLst>
          </p:cNvPr>
          <p:cNvSpPr/>
          <p:nvPr/>
        </p:nvSpPr>
        <p:spPr>
          <a:xfrm>
            <a:off x="48006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Shared UI komponensek: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CE6749C-6C7A-F4DC-1C01-F90848599155}"/>
              </a:ext>
            </a:extLst>
          </p:cNvPr>
          <p:cNvSpPr/>
          <p:nvPr/>
        </p:nvSpPr>
        <p:spPr>
          <a:xfrm>
            <a:off x="4800600" y="1335023"/>
            <a:ext cx="1715480" cy="11077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7A72"/>
                </a:solidFill>
              </a:rPr>
              <a:t>Radix UI alapú, újrafelhasználható elemek</a:t>
            </a:r>
            <a:endParaRPr lang="en-US" sz="1600" dirty="0"/>
          </a:p>
        </p:txBody>
      </p:sp>
      <p:pic>
        <p:nvPicPr>
          <p:cNvPr id="30" name="Kép 29">
            <a:extLst>
              <a:ext uri="{FF2B5EF4-FFF2-40B4-BE49-F238E27FC236}">
                <a16:creationId xmlns:a16="http://schemas.microsoft.com/office/drawing/2014/main" id="{A1221BDB-45DE-1CA6-76AE-264CE9689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880" y="1342775"/>
            <a:ext cx="1622080" cy="2922571"/>
          </a:xfrm>
          <a:prstGeom prst="rect">
            <a:avLst/>
          </a:prstGeom>
        </p:spPr>
      </p:pic>
      <p:pic>
        <p:nvPicPr>
          <p:cNvPr id="32" name="Kép 31">
            <a:extLst>
              <a:ext uri="{FF2B5EF4-FFF2-40B4-BE49-F238E27FC236}">
                <a16:creationId xmlns:a16="http://schemas.microsoft.com/office/drawing/2014/main" id="{764D4FFB-1BC9-9BA3-1208-E310D4772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800" y="1342775"/>
            <a:ext cx="2054196" cy="258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8BB27-0CB6-1C4F-FEA0-42441C04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63FB37-0AC6-D8A4-57F7-55D880739F8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400679-8EB9-7FC8-A93E-5176DC96338C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Frontend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94CB59-C6AA-F758-EF7C-72F6F99A29F3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54105B-C88C-4778-B6A8-BB473D0C4635}"/>
              </a:ext>
            </a:extLst>
          </p:cNvPr>
          <p:cNvSpPr/>
          <p:nvPr/>
        </p:nvSpPr>
        <p:spPr>
          <a:xfrm>
            <a:off x="483343" y="923948"/>
            <a:ext cx="3910348" cy="397723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21732D6-E9D3-F23C-7DB0-48C5171E4828}"/>
              </a:ext>
            </a:extLst>
          </p:cNvPr>
          <p:cNvSpPr/>
          <p:nvPr/>
        </p:nvSpPr>
        <p:spPr>
          <a:xfrm>
            <a:off x="483342" y="932688"/>
            <a:ext cx="59177" cy="3968496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2E0A67-EBEE-ACE5-8C21-B1812C518FF3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AuthContext</a:t>
            </a:r>
            <a:r>
              <a:rPr lang="en-US" sz="1100" b="1" dirty="0">
                <a:solidFill>
                  <a:srgbClr val="1A2E29"/>
                </a:solidFill>
              </a:rPr>
              <a:t>: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83EAAD-724A-9F93-557E-8DFAD28D7EBD}"/>
              </a:ext>
            </a:extLst>
          </p:cNvPr>
          <p:cNvSpPr/>
          <p:nvPr/>
        </p:nvSpPr>
        <p:spPr>
          <a:xfrm>
            <a:off x="573786" y="1301869"/>
            <a:ext cx="3819906" cy="1236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onAuthStateChanged figyeli a bejelentkezési állapotot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Bejelentkezéskor API-</a:t>
            </a:r>
            <a:r>
              <a:rPr lang="en-US" sz="1600" dirty="0" err="1">
                <a:solidFill>
                  <a:srgbClr val="5A7A72"/>
                </a:solidFill>
              </a:rPr>
              <a:t>ból</a:t>
            </a:r>
            <a:r>
              <a:rPr lang="en-US" sz="1600" dirty="0">
                <a:solidFill>
                  <a:srgbClr val="5A7A72"/>
                </a:solidFill>
              </a:rPr>
              <a:t> lekéri a szerepkört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Eltárolja a role state-ben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FEAAA0E-C5D2-BE2E-C436-AD1783267065}"/>
              </a:ext>
            </a:extLst>
          </p:cNvPr>
          <p:cNvSpPr/>
          <p:nvPr/>
        </p:nvSpPr>
        <p:spPr>
          <a:xfrm>
            <a:off x="4663440" y="932688"/>
            <a:ext cx="3931920" cy="396849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660B5F-8686-2655-7B1B-A4C2F1BB5A20}"/>
              </a:ext>
            </a:extLst>
          </p:cNvPr>
          <p:cNvSpPr/>
          <p:nvPr/>
        </p:nvSpPr>
        <p:spPr>
          <a:xfrm>
            <a:off x="4663439" y="932688"/>
            <a:ext cx="50293" cy="3968496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A56547-BEB6-3E5C-2C42-D9BB1CDCDE6B}"/>
              </a:ext>
            </a:extLst>
          </p:cNvPr>
          <p:cNvSpPr/>
          <p:nvPr/>
        </p:nvSpPr>
        <p:spPr>
          <a:xfrm>
            <a:off x="48006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Sidebar</a:t>
            </a:r>
            <a:r>
              <a:rPr lang="en-US" sz="1100" b="1" dirty="0">
                <a:solidFill>
                  <a:srgbClr val="1A2E29"/>
                </a:solidFill>
              </a:rPr>
              <a:t>: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602201-C290-AECA-C8B5-2B74DBAE2986}"/>
              </a:ext>
            </a:extLst>
          </p:cNvPr>
          <p:cNvSpPr/>
          <p:nvPr/>
        </p:nvSpPr>
        <p:spPr>
          <a:xfrm>
            <a:off x="4800599" y="1335023"/>
            <a:ext cx="3598817" cy="1203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collapsed state kezeli az összecsukást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Mobilon 4 menüpont látszik (MOBILE_VISIBLE_COUNT)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A többi a "Több" drawerbe kerül</a:t>
            </a:r>
            <a:endParaRPr lang="en-US" sz="1600" dirty="0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14DFD3EF-7F69-52FE-7434-B7B20E28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7" y="2752538"/>
            <a:ext cx="3746495" cy="1934703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C110593A-B2A6-A3FB-C299-14E235DD2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165" y="2726203"/>
            <a:ext cx="3744469" cy="49247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2FF3D39E-36BB-FB82-3AB7-8FF379D00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452" y="3422124"/>
            <a:ext cx="3742182" cy="25567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0DECFC2-431F-C4FD-2339-F155930A5D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86003"/>
            <a:ext cx="2400635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95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90973-0A00-AA30-3E52-47114312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68BF65-FCE5-AC3F-CEA3-5CAC87B932B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D0CFC2-B08F-3D1C-9A3E-2CA93701108A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Frontend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B6E9984-2DE8-40F5-0AE6-99FC22731A0B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52D2732-B524-CC4E-3B29-2FB8F4B64E5C}"/>
              </a:ext>
            </a:extLst>
          </p:cNvPr>
          <p:cNvSpPr/>
          <p:nvPr/>
        </p:nvSpPr>
        <p:spPr>
          <a:xfrm>
            <a:off x="502920" y="932688"/>
            <a:ext cx="8138160" cy="390644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B7C60B-DF2F-0420-F2B5-6EB4317C5C99}"/>
              </a:ext>
            </a:extLst>
          </p:cNvPr>
          <p:cNvSpPr/>
          <p:nvPr/>
        </p:nvSpPr>
        <p:spPr>
          <a:xfrm>
            <a:off x="502920" y="932688"/>
            <a:ext cx="58015" cy="3906446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4012B3-C3A9-B1FD-C69D-849F73B974EA}"/>
              </a:ext>
            </a:extLst>
          </p:cNvPr>
          <p:cNvSpPr/>
          <p:nvPr/>
        </p:nvSpPr>
        <p:spPr>
          <a:xfrm>
            <a:off x="702725" y="1106749"/>
            <a:ext cx="305094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Hiányzáskezelés :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88FFFF-D898-0BF5-F2D7-4CDF96EF68B2}"/>
              </a:ext>
            </a:extLst>
          </p:cNvPr>
          <p:cNvSpPr/>
          <p:nvPr/>
        </p:nvSpPr>
        <p:spPr>
          <a:xfrm>
            <a:off x="756876" y="1922196"/>
            <a:ext cx="3129323" cy="1604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handleSave összegyűjti a jelenlétet (present: true/false)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Elküldi az API-</a:t>
            </a:r>
            <a:r>
              <a:rPr lang="hu-HU" sz="1600" dirty="0" err="1">
                <a:solidFill>
                  <a:srgbClr val="5A7A72"/>
                </a:solidFill>
              </a:rPr>
              <a:t>nak</a:t>
            </a:r>
            <a:r>
              <a:rPr lang="hu-HU" sz="1600" dirty="0">
                <a:solidFill>
                  <a:srgbClr val="5A7A72"/>
                </a:solidFill>
              </a:rPr>
              <a:t> az óra adataival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Sikeres mentés után modal bezáródik</a:t>
            </a:r>
            <a:endParaRPr lang="en-US" sz="1600" dirty="0"/>
          </a:p>
        </p:txBody>
      </p:sp>
      <p:pic>
        <p:nvPicPr>
          <p:cNvPr id="24" name="Kép 23">
            <a:extLst>
              <a:ext uri="{FF2B5EF4-FFF2-40B4-BE49-F238E27FC236}">
                <a16:creationId xmlns:a16="http://schemas.microsoft.com/office/drawing/2014/main" id="{893B0375-2C11-0885-F9C8-532C35625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989" y="1151883"/>
            <a:ext cx="4366797" cy="351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53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5B5B-2E29-9631-41D1-666718D7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10F545-445D-B36C-8F27-EE0F54C658FD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729E15-B7E2-E08D-160A-D82B946DBB6D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Frontend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B86BF8-459F-C7DF-F6D8-B6B4CD2B69F4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39F376F-AFB9-0158-338E-69B4B37AE9EF}"/>
              </a:ext>
            </a:extLst>
          </p:cNvPr>
          <p:cNvSpPr/>
          <p:nvPr/>
        </p:nvSpPr>
        <p:spPr>
          <a:xfrm>
            <a:off x="483342" y="923948"/>
            <a:ext cx="8330185" cy="390644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7F6CC0-2E3A-C85F-6816-27F3A53321B8}"/>
              </a:ext>
            </a:extLst>
          </p:cNvPr>
          <p:cNvSpPr/>
          <p:nvPr/>
        </p:nvSpPr>
        <p:spPr>
          <a:xfrm>
            <a:off x="483343" y="932688"/>
            <a:ext cx="60726" cy="3897706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590B6E-FF83-D5F4-D3D9-AC70857691F5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E29"/>
                </a:solidFill>
              </a:rPr>
              <a:t>Jegykezelés :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A3358BD-60C9-7245-0909-F11ED176A649}"/>
              </a:ext>
            </a:extLst>
          </p:cNvPr>
          <p:cNvSpPr/>
          <p:nvPr/>
        </p:nvSpPr>
        <p:spPr>
          <a:xfrm>
            <a:off x="652283" y="1483015"/>
            <a:ext cx="3816984" cy="1608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handleAddGrade validálja a mezőket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Ellenőrzi hogy</a:t>
            </a:r>
            <a:r>
              <a:rPr lang="hu-HU" sz="1600" dirty="0">
                <a:solidFill>
                  <a:srgbClr val="5A7A72"/>
                </a:solidFill>
              </a:rPr>
              <a:t>,</a:t>
            </a:r>
            <a:r>
              <a:rPr lang="en-US" sz="1600" dirty="0">
                <a:solidFill>
                  <a:srgbClr val="5A7A72"/>
                </a:solidFill>
              </a:rPr>
              <a:t> a tanár tanítja-e a tantárgyat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POST kéréssel elküldi a jegyet az API-nak</a:t>
            </a:r>
          </a:p>
        </p:txBody>
      </p:sp>
      <p:pic>
        <p:nvPicPr>
          <p:cNvPr id="26" name="Kép 25">
            <a:extLst>
              <a:ext uri="{FF2B5EF4-FFF2-40B4-BE49-F238E27FC236}">
                <a16:creationId xmlns:a16="http://schemas.microsoft.com/office/drawing/2014/main" id="{4D911961-D691-8E26-CB97-3FC04762A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82"/>
          <a:stretch>
            <a:fillRect/>
          </a:stretch>
        </p:blipFill>
        <p:spPr>
          <a:xfrm>
            <a:off x="4996543" y="932688"/>
            <a:ext cx="3816984" cy="3897706"/>
          </a:xfrm>
          <a:prstGeom prst="rect">
            <a:avLst/>
          </a:prstGeom>
        </p:spPr>
      </p:pic>
      <p:pic>
        <p:nvPicPr>
          <p:cNvPr id="28" name="Kép 27">
            <a:extLst>
              <a:ext uri="{FF2B5EF4-FFF2-40B4-BE49-F238E27FC236}">
                <a16:creationId xmlns:a16="http://schemas.microsoft.com/office/drawing/2014/main" id="{C1535552-3985-0493-B655-33AB2EE06D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957"/>
          <a:stretch>
            <a:fillRect/>
          </a:stretch>
        </p:blipFill>
        <p:spPr>
          <a:xfrm>
            <a:off x="1459983" y="3091509"/>
            <a:ext cx="2528569" cy="164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7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8555A-ECBE-A47F-51BF-40FEF324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738A74-3BE0-2432-9163-D0A17E5765D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10EEC6-BDED-5353-D938-B5D47C42BE02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1A2E29"/>
                </a:solidFill>
              </a:rPr>
              <a:t>Frontend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730BC3-B2BD-D251-5298-E6FC7F1BD52E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51448EC-D81C-BABE-54E5-5CE97D6752C2}"/>
              </a:ext>
            </a:extLst>
          </p:cNvPr>
          <p:cNvSpPr/>
          <p:nvPr/>
        </p:nvSpPr>
        <p:spPr>
          <a:xfrm>
            <a:off x="461770" y="923948"/>
            <a:ext cx="8179309" cy="338287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3706EB-7ACB-88F4-2A69-EAAFC6C9D425}"/>
              </a:ext>
            </a:extLst>
          </p:cNvPr>
          <p:cNvSpPr/>
          <p:nvPr/>
        </p:nvSpPr>
        <p:spPr>
          <a:xfrm>
            <a:off x="472058" y="923947"/>
            <a:ext cx="45719" cy="3382877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4A3694-17C0-0BD8-EA5E-ABD1BA610BF9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b="1" dirty="0">
                <a:solidFill>
                  <a:srgbClr val="1A2E29"/>
                </a:solidFill>
              </a:rPr>
              <a:t>A fő </a:t>
            </a:r>
            <a:r>
              <a:rPr lang="hu-HU" b="1" dirty="0" err="1">
                <a:solidFill>
                  <a:srgbClr val="1A2E29"/>
                </a:solidFill>
              </a:rPr>
              <a:t>page.tsx</a:t>
            </a:r>
            <a:r>
              <a:rPr lang="en-US" sz="1100" b="1" dirty="0">
                <a:solidFill>
                  <a:srgbClr val="1A2E29"/>
                </a:solidFill>
              </a:rPr>
              <a:t>: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61ECC7-AA54-D325-2B83-15A5943E7610}"/>
              </a:ext>
            </a:extLst>
          </p:cNvPr>
          <p:cNvSpPr/>
          <p:nvPr/>
        </p:nvSpPr>
        <p:spPr>
          <a:xfrm>
            <a:off x="573785" y="1301868"/>
            <a:ext cx="2326168" cy="29176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Szerepkör alapján rendereli a megfelelő dashboardot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Kezeli az összes state-et (jegyek, hiányzások, házi feladatok)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Props-</a:t>
            </a:r>
            <a:r>
              <a:rPr lang="en-US" sz="1600" dirty="0" err="1">
                <a:solidFill>
                  <a:srgbClr val="5A7A72"/>
                </a:solidFill>
              </a:rPr>
              <a:t>ként</a:t>
            </a:r>
            <a:r>
              <a:rPr lang="en-US" sz="1600" dirty="0">
                <a:solidFill>
                  <a:srgbClr val="5A7A72"/>
                </a:solidFill>
              </a:rPr>
              <a:t> adja át az adatokat a komponenseknek</a:t>
            </a:r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8AED7385-985C-C086-0E58-058BFD76B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53" y="1359199"/>
            <a:ext cx="5741126" cy="294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29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Backend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30249-4A85-E91C-5FBA-CF1A8D03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919679-051F-2CF1-135B-6F50B5D0E1B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D0ED89-7F73-4A4B-3346-F294B871AF23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Backend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endParaRPr lang="en-US" sz="2200" b="1" dirty="0">
              <a:solidFill>
                <a:srgbClr val="1A2E29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126F91C-C55E-C0F0-127E-10AD1A963118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BBF9B8-5EA6-3AB1-D988-BD1BCF77BA5B}"/>
              </a:ext>
            </a:extLst>
          </p:cNvPr>
          <p:cNvSpPr/>
          <p:nvPr/>
        </p:nvSpPr>
        <p:spPr>
          <a:xfrm>
            <a:off x="502920" y="93268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95B74A-0AB0-D570-946F-4FB80A3B8444}"/>
              </a:ext>
            </a:extLst>
          </p:cNvPr>
          <p:cNvSpPr/>
          <p:nvPr/>
        </p:nvSpPr>
        <p:spPr>
          <a:xfrm>
            <a:off x="502920" y="93268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C23459-99FB-24D8-FD77-15E65110DFB6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Next.js API Routes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BAED11-8B2A-5FC3-4272-B54956FC722F}"/>
              </a:ext>
            </a:extLst>
          </p:cNvPr>
          <p:cNvSpPr/>
          <p:nvPr/>
        </p:nvSpPr>
        <p:spPr>
          <a:xfrm>
            <a:off x="640080" y="1335024"/>
            <a:ext cx="182226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REST </a:t>
            </a:r>
            <a:r>
              <a:rPr lang="en-US" sz="900" dirty="0" err="1">
                <a:solidFill>
                  <a:srgbClr val="5A7A72"/>
                </a:solidFill>
              </a:rPr>
              <a:t>endpointok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route.ts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fájlok</a:t>
            </a:r>
            <a:r>
              <a:rPr lang="en-US" sz="900" dirty="0">
                <a:solidFill>
                  <a:srgbClr val="5A7A72"/>
                </a:solidFill>
              </a:rPr>
              <a:t>, middleware </a:t>
            </a:r>
            <a:r>
              <a:rPr lang="en-US" sz="900" dirty="0" err="1">
                <a:solidFill>
                  <a:srgbClr val="5A7A72"/>
                </a:solidFill>
              </a:rPr>
              <a:t>támogatás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szerver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oldali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logika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7ED424-6174-CED0-A9A7-93EF5CFF9A3B}"/>
              </a:ext>
            </a:extLst>
          </p:cNvPr>
          <p:cNvSpPr/>
          <p:nvPr/>
        </p:nvSpPr>
        <p:spPr>
          <a:xfrm>
            <a:off x="4663440" y="93268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3B06B4-0777-35F7-7089-A2E497B00083}"/>
              </a:ext>
            </a:extLst>
          </p:cNvPr>
          <p:cNvSpPr/>
          <p:nvPr/>
        </p:nvSpPr>
        <p:spPr>
          <a:xfrm>
            <a:off x="4663440" y="93268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D2318F-AA3E-5860-C2B3-030B18262BE3}"/>
              </a:ext>
            </a:extLst>
          </p:cNvPr>
          <p:cNvSpPr/>
          <p:nvPr/>
        </p:nvSpPr>
        <p:spPr>
          <a:xfrm>
            <a:off x="48006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E29"/>
                </a:solidFill>
              </a:rPr>
              <a:t>axios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0224C9-60D2-A621-F8CF-1DF4787FF9DF}"/>
              </a:ext>
            </a:extLst>
          </p:cNvPr>
          <p:cNvSpPr/>
          <p:nvPr/>
        </p:nvSpPr>
        <p:spPr>
          <a:xfrm>
            <a:off x="4800600" y="1335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HTTP </a:t>
            </a:r>
            <a:r>
              <a:rPr lang="en-US" sz="900" dirty="0" err="1">
                <a:solidFill>
                  <a:srgbClr val="5A7A72"/>
                </a:solidFill>
              </a:rPr>
              <a:t>kérések</a:t>
            </a:r>
            <a:r>
              <a:rPr lang="en-US" sz="900" dirty="0">
                <a:solidFill>
                  <a:srgbClr val="5A7A72"/>
                </a:solidFill>
              </a:rPr>
              <a:t> kezelése, API kommunikáció</a:t>
            </a:r>
          </a:p>
          <a:p>
            <a:pPr marL="0" indent="0" algn="l">
              <a:buNone/>
            </a:pP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1C560C-39C6-5E3B-A386-85669F7FDB47}"/>
              </a:ext>
            </a:extLst>
          </p:cNvPr>
          <p:cNvSpPr/>
          <p:nvPr/>
        </p:nvSpPr>
        <p:spPr>
          <a:xfrm>
            <a:off x="502920" y="202996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B40E234-EBBF-09CA-DA2C-6AC7216DC501}"/>
              </a:ext>
            </a:extLst>
          </p:cNvPr>
          <p:cNvSpPr/>
          <p:nvPr/>
        </p:nvSpPr>
        <p:spPr>
          <a:xfrm>
            <a:off x="502920" y="202996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B291468-04C5-A3CE-C6BD-7DBCF9AE884E}"/>
              </a:ext>
            </a:extLst>
          </p:cNvPr>
          <p:cNvSpPr/>
          <p:nvPr/>
        </p:nvSpPr>
        <p:spPr>
          <a:xfrm>
            <a:off x="640080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E29"/>
                </a:solidFill>
              </a:rPr>
              <a:t>bcryptjs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B3C9873-37B5-826A-B4E5-920DE25A3749}"/>
              </a:ext>
            </a:extLst>
          </p:cNvPr>
          <p:cNvSpPr/>
          <p:nvPr/>
        </p:nvSpPr>
        <p:spPr>
          <a:xfrm>
            <a:off x="640080" y="2432304"/>
            <a:ext cx="162959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7A72"/>
                </a:solidFill>
              </a:rPr>
              <a:t>Jelszó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hashelés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biztonságos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tárolás</a:t>
            </a: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58B6E8A-C6D3-AFF8-58B3-6F1B1DEF7747}"/>
              </a:ext>
            </a:extLst>
          </p:cNvPr>
          <p:cNvSpPr/>
          <p:nvPr/>
        </p:nvSpPr>
        <p:spPr>
          <a:xfrm>
            <a:off x="4663440" y="202996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FD68ADB-140B-F266-734A-63EC7CC23B08}"/>
              </a:ext>
            </a:extLst>
          </p:cNvPr>
          <p:cNvSpPr/>
          <p:nvPr/>
        </p:nvSpPr>
        <p:spPr>
          <a:xfrm>
            <a:off x="4663440" y="202996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119E357-ECAF-C096-76E9-1B1E9BC72180}"/>
              </a:ext>
            </a:extLst>
          </p:cNvPr>
          <p:cNvSpPr/>
          <p:nvPr/>
        </p:nvSpPr>
        <p:spPr>
          <a:xfrm>
            <a:off x="4800600" y="2121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29"/>
                </a:solidFill>
              </a:rPr>
              <a:t>auth-middleware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1DB479A-525E-6A49-9979-BED640D31180}"/>
              </a:ext>
            </a:extLst>
          </p:cNvPr>
          <p:cNvSpPr/>
          <p:nvPr/>
        </p:nvSpPr>
        <p:spPr>
          <a:xfrm>
            <a:off x="4800600" y="2432304"/>
            <a:ext cx="16092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Bearer token </a:t>
            </a:r>
            <a:r>
              <a:rPr lang="en-US" sz="900" dirty="0" err="1">
                <a:solidFill>
                  <a:srgbClr val="5A7A72"/>
                </a:solidFill>
              </a:rPr>
              <a:t>ellenőrzés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szerepkör</a:t>
            </a:r>
            <a:r>
              <a:rPr lang="en-US" sz="900" dirty="0">
                <a:solidFill>
                  <a:srgbClr val="5A7A72"/>
                </a:solidFill>
              </a:rPr>
              <a:t> alapú </a:t>
            </a:r>
            <a:r>
              <a:rPr lang="en-US" sz="900" dirty="0" err="1">
                <a:solidFill>
                  <a:srgbClr val="5A7A72"/>
                </a:solidFill>
              </a:rPr>
              <a:t>hozzáférés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védelem</a:t>
            </a:r>
            <a:endParaRPr lang="en-US" sz="900" dirty="0">
              <a:solidFill>
                <a:srgbClr val="5A7A72"/>
              </a:solidFill>
            </a:endParaRPr>
          </a:p>
          <a:p>
            <a:pPr marL="0" indent="0" algn="l">
              <a:buNone/>
            </a:pP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5AC788-7111-35F2-E332-2D292EE5316B}"/>
              </a:ext>
            </a:extLst>
          </p:cNvPr>
          <p:cNvSpPr/>
          <p:nvPr/>
        </p:nvSpPr>
        <p:spPr>
          <a:xfrm>
            <a:off x="502920" y="312724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02093BE-F4D5-EAFF-E8F1-5CC0BFB0BE5E}"/>
              </a:ext>
            </a:extLst>
          </p:cNvPr>
          <p:cNvSpPr/>
          <p:nvPr/>
        </p:nvSpPr>
        <p:spPr>
          <a:xfrm>
            <a:off x="502920" y="312724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026A039-07C8-D777-5464-4AFA70300CB2}"/>
              </a:ext>
            </a:extLst>
          </p:cNvPr>
          <p:cNvSpPr/>
          <p:nvPr/>
        </p:nvSpPr>
        <p:spPr>
          <a:xfrm>
            <a:off x="64008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E29"/>
                </a:solidFill>
              </a:rPr>
              <a:t>qrcode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65553E1-D113-7C9D-FB0E-3B572F08C01F}"/>
              </a:ext>
            </a:extLst>
          </p:cNvPr>
          <p:cNvSpPr/>
          <p:nvPr/>
        </p:nvSpPr>
        <p:spPr>
          <a:xfrm>
            <a:off x="640080" y="3529584"/>
            <a:ext cx="152366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QR </a:t>
            </a:r>
            <a:r>
              <a:rPr lang="en-US" sz="900" dirty="0" err="1">
                <a:solidFill>
                  <a:srgbClr val="5A7A72"/>
                </a:solidFill>
              </a:rPr>
              <a:t>kód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generálás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jelenlétrögzítéshez</a:t>
            </a:r>
            <a:endParaRPr lang="en-US" sz="900" dirty="0">
              <a:solidFill>
                <a:srgbClr val="5A7A72"/>
              </a:solidFill>
            </a:endParaRPr>
          </a:p>
          <a:p>
            <a:pPr marL="0" indent="0" algn="l">
              <a:buNone/>
            </a:pP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CD99171-830D-C643-D7BE-E399E5955768}"/>
              </a:ext>
            </a:extLst>
          </p:cNvPr>
          <p:cNvSpPr/>
          <p:nvPr/>
        </p:nvSpPr>
        <p:spPr>
          <a:xfrm>
            <a:off x="4663440" y="3127248"/>
            <a:ext cx="3931920" cy="9601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B9BD0A0-49B6-F746-BCF3-21FB24FC1636}"/>
              </a:ext>
            </a:extLst>
          </p:cNvPr>
          <p:cNvSpPr/>
          <p:nvPr/>
        </p:nvSpPr>
        <p:spPr>
          <a:xfrm>
            <a:off x="4663440" y="3127248"/>
            <a:ext cx="50292" cy="9601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9103897-9657-C694-7A2C-A3EB1AF320C9}"/>
              </a:ext>
            </a:extLst>
          </p:cNvPr>
          <p:cNvSpPr/>
          <p:nvPr/>
        </p:nvSpPr>
        <p:spPr>
          <a:xfrm>
            <a:off x="480060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E29"/>
                </a:solidFill>
              </a:rPr>
              <a:t>permissions.ts</a:t>
            </a:r>
            <a:endParaRPr lang="en-US" sz="1100" b="1" dirty="0">
              <a:solidFill>
                <a:srgbClr val="1A2E29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7DC42F3-4180-2E02-9D64-8992C5DC34BF}"/>
              </a:ext>
            </a:extLst>
          </p:cNvPr>
          <p:cNvSpPr/>
          <p:nvPr/>
        </p:nvSpPr>
        <p:spPr>
          <a:xfrm>
            <a:off x="4800600" y="352958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72"/>
                </a:solidFill>
              </a:rPr>
              <a:t>RBAC </a:t>
            </a:r>
            <a:r>
              <a:rPr lang="en-US" sz="900" dirty="0" err="1">
                <a:solidFill>
                  <a:srgbClr val="5A7A72"/>
                </a:solidFill>
              </a:rPr>
              <a:t>implementáció</a:t>
            </a:r>
            <a:r>
              <a:rPr lang="en-US" sz="900" dirty="0">
                <a:solidFill>
                  <a:srgbClr val="5A7A72"/>
                </a:solidFill>
              </a:rPr>
              <a:t>, </a:t>
            </a:r>
            <a:r>
              <a:rPr lang="en-US" sz="900" dirty="0" err="1">
                <a:solidFill>
                  <a:srgbClr val="5A7A72"/>
                </a:solidFill>
              </a:rPr>
              <a:t>hasPermission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jogosultság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ellenőrzés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minden</a:t>
            </a:r>
            <a:r>
              <a:rPr lang="en-US" sz="900" dirty="0">
                <a:solidFill>
                  <a:srgbClr val="5A7A72"/>
                </a:solidFill>
              </a:rPr>
              <a:t> </a:t>
            </a:r>
            <a:r>
              <a:rPr lang="en-US" sz="900" dirty="0" err="1">
                <a:solidFill>
                  <a:srgbClr val="5A7A72"/>
                </a:solidFill>
              </a:rPr>
              <a:t>endpointon</a:t>
            </a:r>
            <a:endParaRPr lang="en-US" sz="900" dirty="0">
              <a:solidFill>
                <a:srgbClr val="5A7A72"/>
              </a:solidFill>
            </a:endParaRPr>
          </a:p>
          <a:p>
            <a:pPr marL="0" indent="0" algn="l">
              <a:buNone/>
            </a:pPr>
            <a:endParaRPr lang="en-US" sz="900" dirty="0">
              <a:solidFill>
                <a:srgbClr val="5A7A72"/>
              </a:solidFill>
            </a:endParaRPr>
          </a:p>
        </p:txBody>
      </p:sp>
      <p:pic>
        <p:nvPicPr>
          <p:cNvPr id="1026" name="Picture 2" descr="Next.js | Drupal.org">
            <a:extLst>
              <a:ext uri="{FF2B5EF4-FFF2-40B4-BE49-F238E27FC236}">
                <a16:creationId xmlns:a16="http://schemas.microsoft.com/office/drawing/2014/main" id="{F59DC83C-5308-006A-F721-422E1627D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034" y="1011883"/>
            <a:ext cx="748827" cy="74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crypt-library · GitHub Topics · GitHub">
            <a:extLst>
              <a:ext uri="{FF2B5EF4-FFF2-40B4-BE49-F238E27FC236}">
                <a16:creationId xmlns:a16="http://schemas.microsoft.com/office/drawing/2014/main" id="{6899C7D4-7515-CAB8-1ECA-01672B121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338" y="2100834"/>
            <a:ext cx="1636776" cy="81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350BF81-667C-F8D1-3E55-F95CC0188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760" y="3259618"/>
            <a:ext cx="686236" cy="68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 következik holnap és miért: Axios - Tőled Hallottam Blog">
            <a:extLst>
              <a:ext uri="{FF2B5EF4-FFF2-40B4-BE49-F238E27FC236}">
                <a16:creationId xmlns:a16="http://schemas.microsoft.com/office/drawing/2014/main" id="{BEFD3E1D-506A-BA95-C763-6F67A8F2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502" y="1170432"/>
            <a:ext cx="1124375" cy="63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53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A013-996B-7578-9820-C38B7DAB7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0DE60A-0533-2A48-6C15-3BF8AB9EDD2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C3163F-01A2-4EF9-BBBD-85A4F02897D6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200" b="1" dirty="0">
                <a:solidFill>
                  <a:srgbClr val="1A2E29"/>
                </a:solidFill>
              </a:rPr>
              <a:t>Backend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hu-HU" sz="2200" b="1" dirty="0">
                <a:solidFill>
                  <a:srgbClr val="1A2E29"/>
                </a:solidFill>
              </a:rPr>
              <a:t>műszaki megvalósítását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728692-EACD-BE8F-7783-ACED6F9635B3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95A906-3087-1428-4DE7-9A808F40443A}"/>
              </a:ext>
            </a:extLst>
          </p:cNvPr>
          <p:cNvSpPr/>
          <p:nvPr/>
        </p:nvSpPr>
        <p:spPr>
          <a:xfrm>
            <a:off x="502920" y="932688"/>
            <a:ext cx="393192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EF8B9D9-C26A-6161-8A31-BB2AC2A29C5E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B1B892-0367-DA98-9F0A-9BB88527B623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API Routes </a:t>
            </a:r>
            <a:r>
              <a:rPr lang="en-US" b="1" dirty="0" err="1">
                <a:solidFill>
                  <a:srgbClr val="1A2E29"/>
                </a:solidFill>
              </a:rPr>
              <a:t>struktúra</a:t>
            </a:r>
            <a:r>
              <a:rPr lang="en-US" b="1" dirty="0">
                <a:solidFill>
                  <a:srgbClr val="1A2E29"/>
                </a:solidFill>
              </a:rPr>
              <a:t>: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266358-E57D-2A99-C8F9-D0C3235BC11F}"/>
              </a:ext>
            </a:extLst>
          </p:cNvPr>
          <p:cNvSpPr/>
          <p:nvPr/>
        </p:nvSpPr>
        <p:spPr>
          <a:xfrm>
            <a:off x="640080" y="1335023"/>
            <a:ext cx="2293366" cy="2035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7A72"/>
                </a:solidFill>
              </a:rPr>
              <a:t>32 REST endpoint (grades, attendance, homework, users, auth, behavior, chat, music, parent, admin </a:t>
            </a:r>
            <a:r>
              <a:rPr lang="en-US" sz="1600" dirty="0" err="1">
                <a:solidFill>
                  <a:srgbClr val="5A7A72"/>
                </a:solidFill>
              </a:rPr>
              <a:t>stb</a:t>
            </a:r>
            <a:r>
              <a:rPr lang="en-US" sz="1600" dirty="0">
                <a:solidFill>
                  <a:srgbClr val="5A7A72"/>
                </a:solidFill>
              </a:rPr>
              <a:t>.)</a:t>
            </a:r>
            <a:endParaRPr lang="en-US" sz="900" dirty="0">
              <a:solidFill>
                <a:srgbClr val="5A7A72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0178440-57C4-7431-238A-D4FC3B05B7C8}"/>
              </a:ext>
            </a:extLst>
          </p:cNvPr>
          <p:cNvSpPr/>
          <p:nvPr/>
        </p:nvSpPr>
        <p:spPr>
          <a:xfrm>
            <a:off x="4663440" y="932687"/>
            <a:ext cx="393192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6E5BED9-27A1-A62F-59F1-5EC13A5D5B0B}"/>
              </a:ext>
            </a:extLst>
          </p:cNvPr>
          <p:cNvSpPr/>
          <p:nvPr/>
        </p:nvSpPr>
        <p:spPr>
          <a:xfrm>
            <a:off x="4663440" y="932688"/>
            <a:ext cx="50292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502D4DB-7B86-816C-BD7D-6C538BBC43E5}"/>
              </a:ext>
            </a:extLst>
          </p:cNvPr>
          <p:cNvSpPr/>
          <p:nvPr/>
        </p:nvSpPr>
        <p:spPr>
          <a:xfrm>
            <a:off x="480060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Middleware/lib </a:t>
            </a:r>
            <a:r>
              <a:rPr lang="en-US" b="1" dirty="0" err="1">
                <a:solidFill>
                  <a:srgbClr val="1A2E29"/>
                </a:solidFill>
              </a:rPr>
              <a:t>fájlok</a:t>
            </a:r>
            <a:r>
              <a:rPr lang="en-US" b="1" dirty="0">
                <a:solidFill>
                  <a:srgbClr val="1A2E29"/>
                </a:solidFill>
              </a:rPr>
              <a:t>: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9635F3-1B80-ADD0-C7A3-B9A28DA07EB1}"/>
              </a:ext>
            </a:extLst>
          </p:cNvPr>
          <p:cNvSpPr/>
          <p:nvPr/>
        </p:nvSpPr>
        <p:spPr>
          <a:xfrm>
            <a:off x="4800599" y="1335023"/>
            <a:ext cx="1704703" cy="22637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A7A72"/>
                </a:solidFill>
              </a:rPr>
              <a:t>17 </a:t>
            </a:r>
            <a:r>
              <a:rPr lang="en-US" sz="1600" dirty="0" err="1">
                <a:solidFill>
                  <a:srgbClr val="5A7A72"/>
                </a:solidFill>
              </a:rPr>
              <a:t>szerver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oldali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segédkönyvtár</a:t>
            </a:r>
            <a:r>
              <a:rPr lang="en-US" sz="1600" dirty="0">
                <a:solidFill>
                  <a:srgbClr val="5A7A72"/>
                </a:solidFill>
              </a:rPr>
              <a:t>: auth-middleware, permissions, firebase-admin, </a:t>
            </a:r>
            <a:r>
              <a:rPr lang="en-US" sz="1600" dirty="0" err="1">
                <a:solidFill>
                  <a:srgbClr val="5A7A72"/>
                </a:solidFill>
              </a:rPr>
              <a:t>api</a:t>
            </a:r>
            <a:r>
              <a:rPr lang="en-US" sz="1600" dirty="0">
                <a:solidFill>
                  <a:srgbClr val="5A7A72"/>
                </a:solidFill>
              </a:rPr>
              <a:t>-middleware, </a:t>
            </a:r>
            <a:r>
              <a:rPr lang="en-US" sz="1600" dirty="0" err="1">
                <a:solidFill>
                  <a:srgbClr val="5A7A72"/>
                </a:solidFill>
              </a:rPr>
              <a:t>dataCache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stb</a:t>
            </a:r>
            <a:r>
              <a:rPr lang="en-US" sz="1600" dirty="0">
                <a:solidFill>
                  <a:srgbClr val="5A7A72"/>
                </a:solidFill>
              </a:rPr>
              <a:t>.</a:t>
            </a:r>
            <a:endParaRPr lang="en-US" sz="1600" dirty="0"/>
          </a:p>
        </p:txBody>
      </p:sp>
      <p:pic>
        <p:nvPicPr>
          <p:cNvPr id="14" name="Kép 13">
            <a:extLst>
              <a:ext uri="{FF2B5EF4-FFF2-40B4-BE49-F238E27FC236}">
                <a16:creationId xmlns:a16="http://schemas.microsoft.com/office/drawing/2014/main" id="{00472792-CD57-55F2-C787-9A599BBDA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886" y="1262642"/>
            <a:ext cx="1409954" cy="314019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A76A856A-5CEE-C237-0255-5740699B3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098" y="1339599"/>
            <a:ext cx="2013262" cy="305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6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FE66-784F-65EA-3347-D399236E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F4CB53-DBEF-11C3-817D-E8EB2C48777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A6EB7D-CDF5-0A0E-63FC-103043702336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hu-HU" sz="2200" b="1" dirty="0">
                <a:solidFill>
                  <a:srgbClr val="1A2E29"/>
                </a:solidFill>
              </a:rPr>
              <a:t>Backend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960C59-6A4F-2D64-F659-891872972AEC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C0D05B-D22A-00C4-72F2-66B063D606D5}"/>
              </a:ext>
            </a:extLst>
          </p:cNvPr>
          <p:cNvSpPr/>
          <p:nvPr/>
        </p:nvSpPr>
        <p:spPr>
          <a:xfrm>
            <a:off x="461770" y="923948"/>
            <a:ext cx="8179309" cy="3382876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29DE1B-05FB-E7B1-9635-41A177F1C0A7}"/>
              </a:ext>
            </a:extLst>
          </p:cNvPr>
          <p:cNvSpPr/>
          <p:nvPr/>
        </p:nvSpPr>
        <p:spPr>
          <a:xfrm>
            <a:off x="472058" y="923947"/>
            <a:ext cx="45719" cy="3382877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D2F8FD-0169-5258-9A50-92564FEFB114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A2E29"/>
                </a:solidFill>
              </a:rPr>
              <a:t>authMiddleware</a:t>
            </a:r>
            <a:r>
              <a:rPr lang="hu-HU" sz="1100" b="1" dirty="0">
                <a:solidFill>
                  <a:srgbClr val="1A2E29"/>
                </a:solidFill>
              </a:rPr>
              <a:t>: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015152-C39C-04A4-C8BB-4EBBA7B0FD72}"/>
              </a:ext>
            </a:extLst>
          </p:cNvPr>
          <p:cNvSpPr/>
          <p:nvPr/>
        </p:nvSpPr>
        <p:spPr>
          <a:xfrm>
            <a:off x="545781" y="1636028"/>
            <a:ext cx="2592654" cy="2125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Bearer token </a:t>
            </a:r>
            <a:r>
              <a:rPr lang="en-US" sz="1600" dirty="0" err="1">
                <a:solidFill>
                  <a:srgbClr val="5A7A72"/>
                </a:solidFill>
              </a:rPr>
              <a:t>ellenőrzés</a:t>
            </a:r>
            <a:r>
              <a:rPr lang="en-US" sz="1600" dirty="0">
                <a:solidFill>
                  <a:srgbClr val="5A7A72"/>
                </a:solidFill>
              </a:rPr>
              <a:t> a request </a:t>
            </a:r>
            <a:r>
              <a:rPr lang="en-US" sz="1600" dirty="0" err="1">
                <a:solidFill>
                  <a:srgbClr val="5A7A72"/>
                </a:solidFill>
              </a:rPr>
              <a:t>headerben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Firebase Admin SDK-</a:t>
            </a:r>
            <a:r>
              <a:rPr lang="en-US" sz="1600" dirty="0" err="1">
                <a:solidFill>
                  <a:srgbClr val="5A7A72"/>
                </a:solidFill>
              </a:rPr>
              <a:t>val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verifikálja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Hiányzó</a:t>
            </a:r>
            <a:r>
              <a:rPr lang="en-US" sz="1600" dirty="0">
                <a:solidFill>
                  <a:srgbClr val="5A7A72"/>
                </a:solidFill>
              </a:rPr>
              <a:t>/</a:t>
            </a:r>
            <a:r>
              <a:rPr lang="en-US" sz="1600" dirty="0" err="1">
                <a:solidFill>
                  <a:srgbClr val="5A7A72"/>
                </a:solidFill>
              </a:rPr>
              <a:t>érvénytelen</a:t>
            </a:r>
            <a:r>
              <a:rPr lang="en-US" sz="1600" dirty="0">
                <a:solidFill>
                  <a:srgbClr val="5A7A72"/>
                </a:solidFill>
              </a:rPr>
              <a:t> token → 401-es </a:t>
            </a:r>
            <a:r>
              <a:rPr lang="en-US" sz="1600" dirty="0" err="1">
                <a:solidFill>
                  <a:srgbClr val="5A7A72"/>
                </a:solidFill>
              </a:rPr>
              <a:t>hiba</a:t>
            </a:r>
            <a:endParaRPr lang="en-US" sz="1600" dirty="0">
              <a:solidFill>
                <a:srgbClr val="5A7A72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495CB28F-ED4F-6360-C846-35A3B8FA7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439" y="1301868"/>
            <a:ext cx="5474640" cy="245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6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3417C-1B74-486A-824A-72362AB8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F4BE9C-8B06-DA73-7CF0-B8A9D7CCC888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D46396-2B19-3BAA-7C65-F09AE2D9EFA1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hu-HU" sz="2200" b="1" dirty="0">
                <a:solidFill>
                  <a:srgbClr val="1A2E29"/>
                </a:solidFill>
              </a:rPr>
              <a:t>Backend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948170-F1F8-86B2-6FEF-C46DDA0A0063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F7594FE-0B87-1509-5037-F231FEFB1138}"/>
              </a:ext>
            </a:extLst>
          </p:cNvPr>
          <p:cNvSpPr/>
          <p:nvPr/>
        </p:nvSpPr>
        <p:spPr>
          <a:xfrm>
            <a:off x="461770" y="1204684"/>
            <a:ext cx="8179309" cy="2851218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E817DE-083F-5C0D-2812-0385A0CEE172}"/>
              </a:ext>
            </a:extLst>
          </p:cNvPr>
          <p:cNvSpPr/>
          <p:nvPr/>
        </p:nvSpPr>
        <p:spPr>
          <a:xfrm>
            <a:off x="472058" y="1204683"/>
            <a:ext cx="45719" cy="2851219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6910A2-D222-A0CF-5F36-405AF90ABB23}"/>
              </a:ext>
            </a:extLst>
          </p:cNvPr>
          <p:cNvSpPr/>
          <p:nvPr/>
        </p:nvSpPr>
        <p:spPr>
          <a:xfrm>
            <a:off x="640080" y="13048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A2E29"/>
                </a:solidFill>
              </a:rPr>
              <a:t>permissions.ts</a:t>
            </a:r>
            <a:r>
              <a:rPr lang="hu-HU" b="1" dirty="0">
                <a:solidFill>
                  <a:srgbClr val="1A2E29"/>
                </a:solidFill>
              </a:rPr>
              <a:t>:</a:t>
            </a:r>
            <a:endParaRPr lang="en-US" b="1" dirty="0">
              <a:solidFill>
                <a:srgbClr val="1A2E29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AA16BB4-EDBD-C1FF-8E23-7105FD8EA099}"/>
              </a:ext>
            </a:extLst>
          </p:cNvPr>
          <p:cNvSpPr/>
          <p:nvPr/>
        </p:nvSpPr>
        <p:spPr>
          <a:xfrm>
            <a:off x="494917" y="1537151"/>
            <a:ext cx="2326168" cy="29176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7 </a:t>
            </a:r>
            <a:r>
              <a:rPr lang="en-US" sz="1600" dirty="0" err="1">
                <a:solidFill>
                  <a:srgbClr val="5A7A72"/>
                </a:solidFill>
              </a:rPr>
              <a:t>szerepkör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definiálva</a:t>
            </a:r>
            <a:r>
              <a:rPr lang="en-US" sz="1600" dirty="0">
                <a:solidFill>
                  <a:srgbClr val="5A7A72"/>
                </a:solidFill>
              </a:rPr>
              <a:t> (</a:t>
            </a:r>
            <a:r>
              <a:rPr lang="en-US" sz="1600" dirty="0" err="1">
                <a:solidFill>
                  <a:srgbClr val="5A7A72"/>
                </a:solidFill>
              </a:rPr>
              <a:t>UserRole</a:t>
            </a:r>
            <a:r>
              <a:rPr lang="en-US" sz="1600" dirty="0">
                <a:solidFill>
                  <a:srgbClr val="5A7A72"/>
                </a:solidFill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Permissions interface </a:t>
            </a:r>
            <a:r>
              <a:rPr lang="en-US" sz="1600" dirty="0" err="1">
                <a:solidFill>
                  <a:srgbClr val="5A7A72"/>
                </a:solidFill>
              </a:rPr>
              <a:t>határozza</a:t>
            </a:r>
            <a:r>
              <a:rPr lang="en-US" sz="1600" dirty="0">
                <a:solidFill>
                  <a:srgbClr val="5A7A72"/>
                </a:solidFill>
              </a:rPr>
              <a:t> meg a </a:t>
            </a:r>
            <a:r>
              <a:rPr lang="en-US" sz="1600" dirty="0" err="1">
                <a:solidFill>
                  <a:srgbClr val="5A7A72"/>
                </a:solidFill>
              </a:rPr>
              <a:t>jogosultságokat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Minden </a:t>
            </a:r>
            <a:r>
              <a:rPr lang="en-US" sz="1600" dirty="0" err="1">
                <a:solidFill>
                  <a:srgbClr val="5A7A72"/>
                </a:solidFill>
              </a:rPr>
              <a:t>szerepkörnek</a:t>
            </a:r>
            <a:r>
              <a:rPr lang="en-US" sz="1600" dirty="0">
                <a:solidFill>
                  <a:srgbClr val="5A7A72"/>
                </a:solidFill>
              </a:rPr>
              <a:t> saját true/false </a:t>
            </a:r>
            <a:r>
              <a:rPr lang="en-US" sz="1600" dirty="0" err="1">
                <a:solidFill>
                  <a:srgbClr val="5A7A72"/>
                </a:solidFill>
              </a:rPr>
              <a:t>értékek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Admin </a:t>
            </a:r>
            <a:r>
              <a:rPr lang="en-US" sz="1600" dirty="0" err="1">
                <a:solidFill>
                  <a:srgbClr val="5A7A72"/>
                </a:solidFill>
              </a:rPr>
              <a:t>mindent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tehet</a:t>
            </a:r>
            <a:r>
              <a:rPr lang="en-US" sz="1600" dirty="0">
                <a:solidFill>
                  <a:srgbClr val="5A7A72"/>
                </a:solidFill>
              </a:rPr>
              <a:t>, </a:t>
            </a:r>
            <a:r>
              <a:rPr lang="en-US" sz="1600" dirty="0" err="1">
                <a:solidFill>
                  <a:srgbClr val="5A7A72"/>
                </a:solidFill>
              </a:rPr>
              <a:t>diák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csak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olvashat</a:t>
            </a:r>
            <a:endParaRPr lang="en-US" sz="1600" dirty="0">
              <a:solidFill>
                <a:srgbClr val="5A7A72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1ED3F27B-8DAA-BF7B-5F28-CB483155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05" y="1219006"/>
            <a:ext cx="5917474" cy="205988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64F3270D-A2E4-C804-B621-1569C58A86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605" y="1485419"/>
            <a:ext cx="1604861" cy="2125587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0013A0B0-0297-1948-F0EE-007FEE792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0730" y="1485419"/>
            <a:ext cx="2694494" cy="2124038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6CCAC63A-F406-472F-DD71-4988897D3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042" y="1481363"/>
            <a:ext cx="1507037" cy="212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9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47A67-37B7-FDBA-FEAE-836CF150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38DC6C-223D-F925-F9E0-CB798513BE6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58AEE4-0595-226E-B2AD-08883BA12447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Backend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r>
              <a:rPr lang="en-US" sz="2200" b="1" dirty="0">
                <a:solidFill>
                  <a:srgbClr val="1A2E29"/>
                </a:solidFill>
              </a:rPr>
              <a:t> API végpontok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947408D-9844-084E-5F54-ED9FF4F8110C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3A186E-4E54-2BD9-18A4-1CB02E6F2FFA}"/>
              </a:ext>
            </a:extLst>
          </p:cNvPr>
          <p:cNvSpPr/>
          <p:nvPr/>
        </p:nvSpPr>
        <p:spPr>
          <a:xfrm>
            <a:off x="667494" y="2141656"/>
            <a:ext cx="2788920" cy="1180231"/>
          </a:xfrm>
          <a:prstGeom prst="rect">
            <a:avLst/>
          </a:prstGeom>
          <a:solidFill>
            <a:srgbClr val="FFFFFF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55301AC-994E-CC1F-A860-6450824D69E3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BCC5DF-7805-0421-26E6-C2DEC1AC64D2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800" b="1" dirty="0">
                <a:solidFill>
                  <a:srgbClr val="2F6356"/>
                </a:solidFill>
              </a:rPr>
              <a:t>GET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F679CC-C369-E91E-DDDE-D351AF80A4A3}"/>
              </a:ext>
            </a:extLst>
          </p:cNvPr>
          <p:cNvSpPr/>
          <p:nvPr/>
        </p:nvSpPr>
        <p:spPr>
          <a:xfrm>
            <a:off x="1307574" y="2259222"/>
            <a:ext cx="17634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</a:t>
            </a:r>
            <a:r>
              <a:rPr lang="en-US" sz="950" dirty="0" err="1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/academic/grades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D7B772B-EE26-7474-7DD9-A21320BAA090}"/>
              </a:ext>
            </a:extLst>
          </p:cNvPr>
          <p:cNvSpPr/>
          <p:nvPr/>
        </p:nvSpPr>
        <p:spPr>
          <a:xfrm>
            <a:off x="758933" y="2524398"/>
            <a:ext cx="2545969" cy="824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Diáknév, osztály vagy tanárnév alapján szűr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950" dirty="0" err="1">
                <a:solidFill>
                  <a:srgbClr val="5A7A72"/>
                </a:solidFill>
              </a:rPr>
              <a:t>Firestore</a:t>
            </a:r>
            <a:r>
              <a:rPr lang="hu-HU" sz="950" dirty="0">
                <a:solidFill>
                  <a:srgbClr val="5A7A72"/>
                </a:solidFill>
              </a:rPr>
              <a:t> lekérdezés </a:t>
            </a:r>
            <a:r>
              <a:rPr lang="hu-HU" sz="950" dirty="0" err="1">
                <a:solidFill>
                  <a:srgbClr val="5A7A72"/>
                </a:solidFill>
              </a:rPr>
              <a:t>query</a:t>
            </a:r>
            <a:r>
              <a:rPr lang="hu-HU" sz="950" dirty="0">
                <a:solidFill>
                  <a:srgbClr val="5A7A72"/>
                </a:solidFill>
              </a:rPr>
              <a:t> paraméterekkel</a:t>
            </a:r>
            <a:endParaRPr lang="en-US" sz="950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4570A7B4-ACC0-D6BE-7AED-B6D20E228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73" y="1053521"/>
            <a:ext cx="3767344" cy="3710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1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42D12-550E-2376-D3E1-985B3221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DBAAA47-F3B4-C481-0D76-6E9306B4998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13671E-C1BA-65D6-8EC2-CEE12986EFEB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Backend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r>
              <a:rPr lang="en-US" sz="2200" b="1" dirty="0">
                <a:solidFill>
                  <a:srgbClr val="1A2E29"/>
                </a:solidFill>
              </a:rPr>
              <a:t> API végpontok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ACAD17A-7F0F-F25F-044A-CC88C008F386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5AB12F-E280-D1E5-3DAB-4A87E11AA785}"/>
              </a:ext>
            </a:extLst>
          </p:cNvPr>
          <p:cNvSpPr/>
          <p:nvPr/>
        </p:nvSpPr>
        <p:spPr>
          <a:xfrm>
            <a:off x="667494" y="2141656"/>
            <a:ext cx="2788920" cy="1180231"/>
          </a:xfrm>
          <a:prstGeom prst="rect">
            <a:avLst/>
          </a:prstGeom>
          <a:solidFill>
            <a:srgbClr val="FFFFFF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7B6B4B-48EC-1D62-0199-5946A1B04D3F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635DB8-9362-4041-F819-CF2FCF3D49A4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800" b="1" dirty="0">
                <a:solidFill>
                  <a:srgbClr val="2F6356"/>
                </a:solidFill>
              </a:rPr>
              <a:t>POST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32AD378-E9F3-C674-5004-B38514C8AA9A}"/>
              </a:ext>
            </a:extLst>
          </p:cNvPr>
          <p:cNvSpPr/>
          <p:nvPr/>
        </p:nvSpPr>
        <p:spPr>
          <a:xfrm>
            <a:off x="1307574" y="2259222"/>
            <a:ext cx="17634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950" dirty="0" err="1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6A56CF-5C20-FE23-6370-D01BF426B870}"/>
              </a:ext>
            </a:extLst>
          </p:cNvPr>
          <p:cNvSpPr/>
          <p:nvPr/>
        </p:nvSpPr>
        <p:spPr>
          <a:xfrm>
            <a:off x="758934" y="2524398"/>
            <a:ext cx="2449286" cy="824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Jogosultság ellenőrzés után menti az üzenetet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Visszaadja a létrehozott dokumentum azonosítóját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EBEA5787-B5E5-4AA4-8E17-BCB145627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268" y="1388583"/>
            <a:ext cx="4899812" cy="30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67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8B90D-3A2A-03E6-0843-393815F07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33CD82-FA82-9AB8-6BBD-74F177F770C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CC81A5-4ED1-2B93-42E5-CF1174C8FB0A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Backend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r>
              <a:rPr lang="en-US" sz="2200" b="1" dirty="0">
                <a:solidFill>
                  <a:srgbClr val="1A2E29"/>
                </a:solidFill>
              </a:rPr>
              <a:t> API végpontok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63B602-92CB-6DDF-468D-31D776957F6D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92FDA4-F0E0-533A-5E9F-F84AA8259FB9}"/>
              </a:ext>
            </a:extLst>
          </p:cNvPr>
          <p:cNvSpPr/>
          <p:nvPr/>
        </p:nvSpPr>
        <p:spPr>
          <a:xfrm>
            <a:off x="667494" y="2141656"/>
            <a:ext cx="2788920" cy="1180231"/>
          </a:xfrm>
          <a:prstGeom prst="rect">
            <a:avLst/>
          </a:prstGeom>
          <a:solidFill>
            <a:srgbClr val="FFFFFF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06CF0C4-95D4-5910-2BA2-B24FB862346C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BE6832-7451-16B4-F971-91E7CECFBB48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800" b="1" dirty="0">
                <a:solidFill>
                  <a:srgbClr val="2F6356"/>
                </a:solidFill>
              </a:rPr>
              <a:t>PUT 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91FA96-E3E7-6948-DB08-4648D9E8E973}"/>
              </a:ext>
            </a:extLst>
          </p:cNvPr>
          <p:cNvSpPr/>
          <p:nvPr/>
        </p:nvSpPr>
        <p:spPr>
          <a:xfrm>
            <a:off x="1307573" y="2259222"/>
            <a:ext cx="20822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950" dirty="0" err="1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/homework-submissions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65ED8C3-A61B-B064-C6BB-8A4C87F56EA2}"/>
              </a:ext>
            </a:extLst>
          </p:cNvPr>
          <p:cNvSpPr/>
          <p:nvPr/>
        </p:nvSpPr>
        <p:spPr>
          <a:xfrm>
            <a:off x="758934" y="2524398"/>
            <a:ext cx="2630876" cy="824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Házi feladat státuszát frissíti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Értékelés dátumát is eltárolja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3E4C4CC8-21B6-C371-8C43-20D20E442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229" y="1314122"/>
            <a:ext cx="5063851" cy="300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31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3158F-6740-A414-52D8-8F9F6A1D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F476A6-4F39-4722-1FC9-4BDC32822B0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38D39D-086D-3D24-5778-722B17C138D0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Backend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r>
              <a:rPr lang="en-US" sz="2200" b="1" dirty="0">
                <a:solidFill>
                  <a:srgbClr val="1A2E29"/>
                </a:solidFill>
              </a:rPr>
              <a:t> API végpontok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2C2936-C6CC-C966-DE08-DE5E597BA47A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FD0843-B4C0-F1B0-9D0B-EBC5E30FCC71}"/>
              </a:ext>
            </a:extLst>
          </p:cNvPr>
          <p:cNvSpPr/>
          <p:nvPr/>
        </p:nvSpPr>
        <p:spPr>
          <a:xfrm>
            <a:off x="667494" y="2141656"/>
            <a:ext cx="2403566" cy="1180231"/>
          </a:xfrm>
          <a:prstGeom prst="rect">
            <a:avLst/>
          </a:prstGeom>
          <a:solidFill>
            <a:srgbClr val="FFFFFF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7A4CD4-28EE-9017-AAB5-B798B2305C2F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74A17C-AD55-529B-9686-9AE7B0B8A206}"/>
              </a:ext>
            </a:extLst>
          </p:cNvPr>
          <p:cNvSpPr/>
          <p:nvPr/>
        </p:nvSpPr>
        <p:spPr>
          <a:xfrm>
            <a:off x="758934" y="225007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800" b="1" dirty="0">
                <a:solidFill>
                  <a:srgbClr val="2F6356"/>
                </a:solidFill>
              </a:rPr>
              <a:t>DELETE 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00875C-63BB-D2D6-8814-0C0ACAA1DA5A}"/>
              </a:ext>
            </a:extLst>
          </p:cNvPr>
          <p:cNvSpPr/>
          <p:nvPr/>
        </p:nvSpPr>
        <p:spPr>
          <a:xfrm>
            <a:off x="1307574" y="2259222"/>
            <a:ext cx="17634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950" dirty="0" err="1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r>
              <a:rPr lang="en-US" sz="95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15E6191-6A31-8272-B345-44398FA2CB40}"/>
              </a:ext>
            </a:extLst>
          </p:cNvPr>
          <p:cNvSpPr/>
          <p:nvPr/>
        </p:nvSpPr>
        <p:spPr>
          <a:xfrm>
            <a:off x="758934" y="2524398"/>
            <a:ext cx="2449286" cy="824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950" dirty="0">
                <a:solidFill>
                  <a:srgbClr val="5A7A72"/>
                </a:solidFill>
              </a:rPr>
              <a:t>Azonosító alapján törli az üzenetet a </a:t>
            </a:r>
            <a:r>
              <a:rPr lang="hu-HU" sz="950" dirty="0" err="1">
                <a:solidFill>
                  <a:srgbClr val="5A7A72"/>
                </a:solidFill>
              </a:rPr>
              <a:t>Firestore-ból</a:t>
            </a:r>
            <a:endParaRPr lang="en-US" sz="95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1B608140-09A4-E970-492A-530614F9F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074" y="1607711"/>
            <a:ext cx="5236006" cy="224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36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63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D09DB-D570-1D17-939A-592052F8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BB5DE2-D26E-93E2-4AD0-BD5180B51B05}"/>
              </a:ext>
            </a:extLst>
          </p:cNvPr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</a:t>
            </a:r>
            <a:r>
              <a:rPr lang="hu-HU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FE9AAC-00A5-AF7D-F8F3-88D954CC0E54}"/>
              </a:ext>
            </a:extLst>
          </p:cNvPr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FB00FA-A11B-5CEF-5D66-7CEE55F864AB}"/>
              </a:ext>
            </a:extLst>
          </p:cNvPr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</a:rPr>
              <a:t>Adatbázis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9417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6BFD8-BCE2-9A51-356B-31C75253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CBC7CF-351B-2534-74FB-AEED6710FD3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FE14202-C80C-64BE-5A45-CC27127A92B3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megvalósítás</a:t>
            </a:r>
            <a:endParaRPr lang="en-US" sz="2200" b="1" dirty="0">
              <a:solidFill>
                <a:srgbClr val="1A2E29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F541D6F-0B1C-45FC-B172-02922B56327A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29C84D-13B4-F255-42D1-65915C9C88DA}"/>
              </a:ext>
            </a:extLst>
          </p:cNvPr>
          <p:cNvSpPr/>
          <p:nvPr/>
        </p:nvSpPr>
        <p:spPr>
          <a:xfrm>
            <a:off x="502920" y="932688"/>
            <a:ext cx="3931920" cy="374904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B8BC786-D5F8-8898-2E84-619CBAB348A0}"/>
              </a:ext>
            </a:extLst>
          </p:cNvPr>
          <p:cNvSpPr/>
          <p:nvPr/>
        </p:nvSpPr>
        <p:spPr>
          <a:xfrm>
            <a:off x="502920" y="932688"/>
            <a:ext cx="50292" cy="374904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327C22-10A1-E367-417D-A9EEBBE66F85}"/>
              </a:ext>
            </a:extLst>
          </p:cNvPr>
          <p:cNvSpPr/>
          <p:nvPr/>
        </p:nvSpPr>
        <p:spPr>
          <a:xfrm>
            <a:off x="640080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E29"/>
                </a:solidFill>
              </a:rPr>
              <a:t>Firebase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FEED6D-1BB5-20BF-9E63-E96BC5F75E50}"/>
              </a:ext>
            </a:extLst>
          </p:cNvPr>
          <p:cNvSpPr/>
          <p:nvPr/>
        </p:nvSpPr>
        <p:spPr>
          <a:xfrm>
            <a:off x="640080" y="1272322"/>
            <a:ext cx="3657600" cy="3208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A7A72"/>
                </a:solidFill>
              </a:rPr>
              <a:t>Firestore</a:t>
            </a:r>
            <a:r>
              <a:rPr lang="hu-HU" sz="1400" dirty="0">
                <a:solidFill>
                  <a:srgbClr val="5A7A72"/>
                </a:solidFill>
              </a:rPr>
              <a:t>: </a:t>
            </a:r>
            <a:r>
              <a:rPr lang="en-US" sz="1400" dirty="0">
                <a:solidFill>
                  <a:srgbClr val="5A7A72"/>
                </a:solidFill>
              </a:rPr>
              <a:t>NoSQL </a:t>
            </a:r>
            <a:r>
              <a:rPr lang="en-US" sz="1400" dirty="0" err="1">
                <a:solidFill>
                  <a:srgbClr val="5A7A72"/>
                </a:solidFill>
              </a:rPr>
              <a:t>adatbázis</a:t>
            </a:r>
            <a:r>
              <a:rPr lang="en-US" sz="1400" dirty="0">
                <a:solidFill>
                  <a:srgbClr val="5A7A72"/>
                </a:solidFill>
              </a:rPr>
              <a:t>, </a:t>
            </a:r>
            <a:r>
              <a:rPr lang="en-US" sz="1400" dirty="0" err="1">
                <a:solidFill>
                  <a:srgbClr val="5A7A72"/>
                </a:solidFill>
              </a:rPr>
              <a:t>dokumentum-kollekció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struktúra</a:t>
            </a:r>
            <a:r>
              <a:rPr lang="en-US" sz="1400" dirty="0">
                <a:solidFill>
                  <a:srgbClr val="5A7A72"/>
                </a:solidFill>
              </a:rPr>
              <a:t> (jegyek, hiányzások, házi feladatok, </a:t>
            </a:r>
            <a:r>
              <a:rPr lang="en-US" sz="1400" dirty="0" err="1">
                <a:solidFill>
                  <a:srgbClr val="5A7A72"/>
                </a:solidFill>
              </a:rPr>
              <a:t>felhasználók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stb</a:t>
            </a:r>
            <a:r>
              <a:rPr lang="en-US" sz="1400" dirty="0">
                <a:solidFill>
                  <a:srgbClr val="5A7A72"/>
                </a:solidFill>
              </a:rPr>
              <a:t>.)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A7A72"/>
                </a:solidFill>
              </a:rPr>
              <a:t>Firebase Authentication</a:t>
            </a:r>
            <a:r>
              <a:rPr lang="hu-HU" sz="1400" dirty="0">
                <a:solidFill>
                  <a:srgbClr val="5A7A72"/>
                </a:solidFill>
              </a:rPr>
              <a:t>:</a:t>
            </a:r>
            <a:r>
              <a:rPr lang="en-US" sz="1400" dirty="0">
                <a:solidFill>
                  <a:srgbClr val="5A7A72"/>
                </a:solidFill>
              </a:rPr>
              <a:t> JWT token alapú </a:t>
            </a:r>
            <a:r>
              <a:rPr lang="en-US" sz="1400" dirty="0" err="1">
                <a:solidFill>
                  <a:srgbClr val="5A7A72"/>
                </a:solidFill>
              </a:rPr>
              <a:t>bejelentkezés</a:t>
            </a:r>
            <a:r>
              <a:rPr lang="en-US" sz="1400" dirty="0">
                <a:solidFill>
                  <a:srgbClr val="5A7A72"/>
                </a:solidFill>
              </a:rPr>
              <a:t>, </a:t>
            </a:r>
            <a:r>
              <a:rPr lang="en-US" sz="1400" dirty="0" err="1">
                <a:solidFill>
                  <a:srgbClr val="5A7A72"/>
                </a:solidFill>
              </a:rPr>
              <a:t>szerepkör</a:t>
            </a:r>
            <a:r>
              <a:rPr lang="en-US" sz="1400" dirty="0">
                <a:solidFill>
                  <a:srgbClr val="5A7A72"/>
                </a:solidFill>
              </a:rPr>
              <a:t> custom claims-ben </a:t>
            </a:r>
            <a:r>
              <a:rPr lang="en-US" sz="1400" dirty="0" err="1">
                <a:solidFill>
                  <a:srgbClr val="5A7A72"/>
                </a:solidFill>
              </a:rPr>
              <a:t>tárolva</a:t>
            </a:r>
            <a:endParaRPr lang="en-US" sz="14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A7A72"/>
                </a:solidFill>
              </a:rPr>
              <a:t>Firebase Admin SDK</a:t>
            </a:r>
            <a:r>
              <a:rPr lang="hu-HU" sz="1400" dirty="0">
                <a:solidFill>
                  <a:srgbClr val="5A7A72"/>
                </a:solidFill>
              </a:rPr>
              <a:t>: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szerver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oldali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Firestore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hozzáférés</a:t>
            </a:r>
            <a:r>
              <a:rPr lang="en-US" sz="1400" dirty="0">
                <a:solidFill>
                  <a:srgbClr val="5A7A72"/>
                </a:solidFill>
              </a:rPr>
              <a:t> service account </a:t>
            </a:r>
            <a:r>
              <a:rPr lang="en-US" sz="1400" dirty="0" err="1">
                <a:solidFill>
                  <a:srgbClr val="5A7A72"/>
                </a:solidFill>
              </a:rPr>
              <a:t>hitelesítéssel</a:t>
            </a:r>
            <a:endParaRPr lang="en-US" sz="14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A7A72"/>
                </a:solidFill>
              </a:rPr>
              <a:t>Firestore</a:t>
            </a:r>
            <a:r>
              <a:rPr lang="en-US" sz="1400" dirty="0">
                <a:solidFill>
                  <a:srgbClr val="5A7A72"/>
                </a:solidFill>
              </a:rPr>
              <a:t> Rules</a:t>
            </a:r>
            <a:r>
              <a:rPr lang="hu-HU" sz="1400" dirty="0">
                <a:solidFill>
                  <a:srgbClr val="5A7A72"/>
                </a:solidFill>
              </a:rPr>
              <a:t>: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kollekciónkénti</a:t>
            </a:r>
            <a:r>
              <a:rPr lang="en-US" sz="1400" dirty="0">
                <a:solidFill>
                  <a:srgbClr val="5A7A72"/>
                </a:solidFill>
              </a:rPr>
              <a:t> CRUD </a:t>
            </a:r>
            <a:r>
              <a:rPr lang="en-US" sz="1400" dirty="0" err="1">
                <a:solidFill>
                  <a:srgbClr val="5A7A72"/>
                </a:solidFill>
              </a:rPr>
              <a:t>védelem</a:t>
            </a:r>
            <a:r>
              <a:rPr lang="en-US" sz="1400" dirty="0">
                <a:solidFill>
                  <a:srgbClr val="5A7A72"/>
                </a:solidFill>
              </a:rPr>
              <a:t>, </a:t>
            </a:r>
            <a:r>
              <a:rPr lang="en-US" sz="1400" dirty="0" err="1">
                <a:solidFill>
                  <a:srgbClr val="5A7A72"/>
                </a:solidFill>
              </a:rPr>
              <a:t>szerepkör</a:t>
            </a:r>
            <a:r>
              <a:rPr lang="en-US" sz="1400" dirty="0">
                <a:solidFill>
                  <a:srgbClr val="5A7A72"/>
                </a:solidFill>
              </a:rPr>
              <a:t> alapú </a:t>
            </a:r>
            <a:r>
              <a:rPr lang="en-US" sz="1400" dirty="0" err="1">
                <a:solidFill>
                  <a:srgbClr val="5A7A72"/>
                </a:solidFill>
              </a:rPr>
              <a:t>jogosultságok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86BC7F8-3DB2-E690-6CE2-92C09F138D30}"/>
              </a:ext>
            </a:extLst>
          </p:cNvPr>
          <p:cNvSpPr/>
          <p:nvPr/>
        </p:nvSpPr>
        <p:spPr>
          <a:xfrm>
            <a:off x="4663440" y="932688"/>
            <a:ext cx="3931920" cy="373532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1DEE6DD-D485-5456-86F9-430956186CC2}"/>
              </a:ext>
            </a:extLst>
          </p:cNvPr>
          <p:cNvSpPr/>
          <p:nvPr/>
        </p:nvSpPr>
        <p:spPr>
          <a:xfrm>
            <a:off x="4663440" y="932688"/>
            <a:ext cx="50292" cy="373532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96417D-4DB5-1F1B-47C1-256A2BE74894}"/>
              </a:ext>
            </a:extLst>
          </p:cNvPr>
          <p:cNvSpPr/>
          <p:nvPr/>
        </p:nvSpPr>
        <p:spPr>
          <a:xfrm>
            <a:off x="4800600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A2E29"/>
                </a:solidFill>
              </a:rPr>
              <a:t>Cloudinary</a:t>
            </a:r>
            <a:endParaRPr lang="en-US" sz="1600" b="1" dirty="0">
              <a:solidFill>
                <a:srgbClr val="1A2E29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3B03F7-8EEB-1B89-6501-D6603754BC2E}"/>
              </a:ext>
            </a:extLst>
          </p:cNvPr>
          <p:cNvSpPr/>
          <p:nvPr/>
        </p:nvSpPr>
        <p:spPr>
          <a:xfrm>
            <a:off x="4800600" y="1389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5A7A72"/>
                </a:solidFill>
              </a:rPr>
              <a:t>Profilképek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feltöltése</a:t>
            </a:r>
            <a:r>
              <a:rPr lang="en-US" sz="1400" dirty="0">
                <a:solidFill>
                  <a:srgbClr val="5A7A72"/>
                </a:solidFill>
              </a:rPr>
              <a:t> és </a:t>
            </a:r>
            <a:r>
              <a:rPr lang="en-US" sz="1400" dirty="0" err="1">
                <a:solidFill>
                  <a:srgbClr val="5A7A72"/>
                </a:solidFill>
              </a:rPr>
              <a:t>tárolása</a:t>
            </a:r>
            <a:endParaRPr lang="en-US" sz="1400" dirty="0">
              <a:solidFill>
                <a:srgbClr val="5A7A72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A7A72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A7A72"/>
                </a:solidFill>
              </a:rPr>
              <a:t>Házi </a:t>
            </a:r>
            <a:r>
              <a:rPr lang="en-US" sz="1400" dirty="0" err="1">
                <a:solidFill>
                  <a:srgbClr val="5A7A72"/>
                </a:solidFill>
              </a:rPr>
              <a:t>feladat</a:t>
            </a:r>
            <a:r>
              <a:rPr lang="en-US" sz="1400" dirty="0">
                <a:solidFill>
                  <a:srgbClr val="5A7A72"/>
                </a:solidFill>
              </a:rPr>
              <a:t> </a:t>
            </a:r>
            <a:r>
              <a:rPr lang="en-US" sz="1400" dirty="0" err="1">
                <a:solidFill>
                  <a:srgbClr val="5A7A72"/>
                </a:solidFill>
              </a:rPr>
              <a:t>csatolmányok</a:t>
            </a:r>
            <a:r>
              <a:rPr lang="en-US" sz="1400" dirty="0">
                <a:solidFill>
                  <a:srgbClr val="5A7A72"/>
                </a:solidFill>
              </a:rPr>
              <a:t> (</a:t>
            </a:r>
            <a:r>
              <a:rPr lang="en-US" sz="1400" dirty="0" err="1">
                <a:solidFill>
                  <a:srgbClr val="5A7A72"/>
                </a:solidFill>
              </a:rPr>
              <a:t>képek</a:t>
            </a:r>
            <a:r>
              <a:rPr lang="en-US" sz="1400" dirty="0">
                <a:solidFill>
                  <a:srgbClr val="5A7A72"/>
                </a:solidFill>
              </a:rPr>
              <a:t>) kezelése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5A7A72"/>
              </a:solidFill>
            </a:endParaRPr>
          </a:p>
        </p:txBody>
      </p:sp>
      <p:pic>
        <p:nvPicPr>
          <p:cNvPr id="1026" name="Picture 2" descr="Firebase | Google's Mobile and Web App Development Platform">
            <a:extLst>
              <a:ext uri="{FF2B5EF4-FFF2-40B4-BE49-F238E27FC236}">
                <a16:creationId xmlns:a16="http://schemas.microsoft.com/office/drawing/2014/main" id="{5520A31B-7625-5750-F9E8-739E3D76B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182" y="3657926"/>
            <a:ext cx="991798" cy="99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oudinary for Page Designer, Digital Asset Management, DAM, Image  Management, Video Management, Content Management, API | Salesforce  AppExchange">
            <a:extLst>
              <a:ext uri="{FF2B5EF4-FFF2-40B4-BE49-F238E27FC236}">
                <a16:creationId xmlns:a16="http://schemas.microsoft.com/office/drawing/2014/main" id="{9345DFC9-7E12-2E7B-0AD9-13399D164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358" y="3657926"/>
            <a:ext cx="1148226" cy="11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232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1A8D-8A9D-70E7-AB82-80427DE6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DA3805-D2A2-E070-EBD8-B66DC0C72A7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11172A-56EA-7F15-CD79-F4BDD08BE197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DBAC47-5126-6281-AB0F-A0632406496A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1850F5-8ED9-3897-A325-7D85967FB2EA}"/>
              </a:ext>
            </a:extLst>
          </p:cNvPr>
          <p:cNvSpPr/>
          <p:nvPr/>
        </p:nvSpPr>
        <p:spPr>
          <a:xfrm>
            <a:off x="502920" y="932688"/>
            <a:ext cx="813816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8F4B79-3142-8CE2-2B51-4C82D705F617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6AB6FD7-9F53-1807-2AD0-846E24B92C19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1A2E29"/>
                </a:solidFill>
              </a:rPr>
              <a:t>firebase-</a:t>
            </a:r>
            <a:r>
              <a:rPr lang="en-US" b="1" dirty="0" err="1">
                <a:solidFill>
                  <a:srgbClr val="1A2E29"/>
                </a:solidFill>
              </a:rPr>
              <a:t>admin.ts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4986CB-888B-B48D-33C0-906BB509FD73}"/>
              </a:ext>
            </a:extLst>
          </p:cNvPr>
          <p:cNvSpPr/>
          <p:nvPr/>
        </p:nvSpPr>
        <p:spPr>
          <a:xfrm>
            <a:off x="640080" y="1791572"/>
            <a:ext cx="2370908" cy="2035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Service account </a:t>
            </a:r>
            <a:r>
              <a:rPr lang="en-US" sz="1600" dirty="0" err="1">
                <a:solidFill>
                  <a:srgbClr val="5A7A72"/>
                </a:solidFill>
              </a:rPr>
              <a:t>hitelesítéssel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inicializál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getApps</a:t>
            </a:r>
            <a:r>
              <a:rPr lang="en-US" sz="1600" dirty="0">
                <a:solidFill>
                  <a:srgbClr val="5A7A72"/>
                </a:solidFill>
              </a:rPr>
              <a:t>().length </a:t>
            </a:r>
            <a:r>
              <a:rPr lang="en-US" sz="1600" dirty="0" err="1">
                <a:solidFill>
                  <a:srgbClr val="5A7A72"/>
                </a:solidFill>
              </a:rPr>
              <a:t>védi</a:t>
            </a:r>
            <a:r>
              <a:rPr lang="en-US" sz="1600" dirty="0">
                <a:solidFill>
                  <a:srgbClr val="5A7A72"/>
                </a:solidFill>
              </a:rPr>
              <a:t> a </a:t>
            </a:r>
            <a:r>
              <a:rPr lang="en-US" sz="1600" dirty="0" err="1">
                <a:solidFill>
                  <a:srgbClr val="5A7A72"/>
                </a:solidFill>
              </a:rPr>
              <a:t>dupla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inicializálást</a:t>
            </a:r>
            <a:endParaRPr lang="en-US" sz="1600" dirty="0">
              <a:solidFill>
                <a:srgbClr val="5A7A72"/>
              </a:solidFill>
            </a:endParaRPr>
          </a:p>
          <a:p>
            <a:pPr marL="0" indent="0" algn="l">
              <a:buNone/>
            </a:pPr>
            <a:endParaRPr lang="en-US" sz="1600" dirty="0">
              <a:solidFill>
                <a:srgbClr val="5A7A72"/>
              </a:solidFill>
            </a:endParaRPr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475033F4-5A80-EF44-8FCE-459B240E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904" y="1316736"/>
            <a:ext cx="5657176" cy="25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39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2F23C-C433-0CCA-2BEB-3F245B57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AA9C0-2F97-3683-AB20-F2460B5EC302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96C64F-8333-4BB0-5A57-D8550A7B22D7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A189EC-E9A4-43EE-0B3A-2AEBD6F36586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5E74251-667A-5A36-C63A-60D10E276DBE}"/>
              </a:ext>
            </a:extLst>
          </p:cNvPr>
          <p:cNvSpPr/>
          <p:nvPr/>
        </p:nvSpPr>
        <p:spPr>
          <a:xfrm>
            <a:off x="502920" y="932688"/>
            <a:ext cx="813816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0BF3025-D2A8-66E4-DD17-D990510778B8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7BF540-ACB6-C7DB-FD48-D4073AC9C110}"/>
              </a:ext>
            </a:extLst>
          </p:cNvPr>
          <p:cNvSpPr/>
          <p:nvPr/>
        </p:nvSpPr>
        <p:spPr>
          <a:xfrm>
            <a:off x="966651" y="1183821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A2E29"/>
                </a:solidFill>
              </a:rPr>
              <a:t>firestore.rules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193F58-5E04-2834-0451-DC023F7E22A5}"/>
              </a:ext>
            </a:extLst>
          </p:cNvPr>
          <p:cNvSpPr/>
          <p:nvPr/>
        </p:nvSpPr>
        <p:spPr>
          <a:xfrm>
            <a:off x="966651" y="2089730"/>
            <a:ext cx="3115492" cy="2035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isAdmin</a:t>
            </a:r>
            <a:r>
              <a:rPr lang="en-US" sz="1600" dirty="0">
                <a:solidFill>
                  <a:srgbClr val="5A7A72"/>
                </a:solidFill>
              </a:rPr>
              <a:t>(), </a:t>
            </a:r>
            <a:r>
              <a:rPr lang="en-US" sz="1600" dirty="0" err="1">
                <a:solidFill>
                  <a:srgbClr val="5A7A72"/>
                </a:solidFill>
              </a:rPr>
              <a:t>isTeacher</a:t>
            </a:r>
            <a:r>
              <a:rPr lang="en-US" sz="1600" dirty="0">
                <a:solidFill>
                  <a:srgbClr val="5A7A72"/>
                </a:solidFill>
              </a:rPr>
              <a:t>() helper </a:t>
            </a:r>
            <a:r>
              <a:rPr lang="en-US" sz="1600" dirty="0" err="1">
                <a:solidFill>
                  <a:srgbClr val="5A7A72"/>
                </a:solidFill>
              </a:rPr>
              <a:t>függvények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Jegyet </a:t>
            </a:r>
            <a:r>
              <a:rPr lang="en-US" sz="1600" dirty="0" err="1">
                <a:solidFill>
                  <a:srgbClr val="5A7A72"/>
                </a:solidFill>
              </a:rPr>
              <a:t>csak</a:t>
            </a:r>
            <a:r>
              <a:rPr lang="en-US" sz="1600" dirty="0">
                <a:solidFill>
                  <a:srgbClr val="5A7A72"/>
                </a:solidFill>
              </a:rPr>
              <a:t> tanár </a:t>
            </a:r>
            <a:r>
              <a:rPr lang="en-US" sz="1600" dirty="0" err="1">
                <a:solidFill>
                  <a:srgbClr val="5A7A72"/>
                </a:solidFill>
              </a:rPr>
              <a:t>adhat</a:t>
            </a:r>
            <a:r>
              <a:rPr lang="en-US" sz="1600" dirty="0">
                <a:solidFill>
                  <a:srgbClr val="5A7A72"/>
                </a:solidFill>
              </a:rPr>
              <a:t>, </a:t>
            </a:r>
            <a:r>
              <a:rPr lang="en-US" sz="1600" dirty="0" err="1">
                <a:solidFill>
                  <a:srgbClr val="5A7A72"/>
                </a:solidFill>
              </a:rPr>
              <a:t>csak</a:t>
            </a:r>
            <a:r>
              <a:rPr lang="en-US" sz="1600" dirty="0">
                <a:solidFill>
                  <a:srgbClr val="5A7A72"/>
                </a:solidFill>
              </a:rPr>
              <a:t> 1-5 </a:t>
            </a:r>
            <a:r>
              <a:rPr lang="en-US" sz="1600" dirty="0" err="1">
                <a:solidFill>
                  <a:srgbClr val="5A7A72"/>
                </a:solidFill>
              </a:rPr>
              <a:t>értékkel</a:t>
            </a:r>
            <a:endParaRPr lang="en-US" sz="900" dirty="0">
              <a:solidFill>
                <a:srgbClr val="5A7A72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C6BD7B65-8B0A-3AF8-E84C-C093FD6E6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7331" y="932688"/>
            <a:ext cx="3003314" cy="34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68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F6DD-7960-1A67-C152-96C050D7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535423-F188-8C9B-CF17-EC4568ED812F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1956C2-D4C3-AC84-CA90-AACDF03BCBE1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6E81E2-C812-383F-9A5B-6DE89F2371D2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369FB3-EDFB-B3BE-C749-7F098B156D14}"/>
              </a:ext>
            </a:extLst>
          </p:cNvPr>
          <p:cNvSpPr/>
          <p:nvPr/>
        </p:nvSpPr>
        <p:spPr>
          <a:xfrm>
            <a:off x="502920" y="932688"/>
            <a:ext cx="813816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E3636FB-B49E-6AC1-8044-24BC733AE079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D50955-C400-831C-5300-8A0B1775CB8F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A2E29"/>
                </a:solidFill>
              </a:rPr>
              <a:t>cloudinary.ts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E66F62A-0539-5320-AEF9-6B936474B4EA}"/>
              </a:ext>
            </a:extLst>
          </p:cNvPr>
          <p:cNvSpPr/>
          <p:nvPr/>
        </p:nvSpPr>
        <p:spPr>
          <a:xfrm>
            <a:off x="747011" y="1962040"/>
            <a:ext cx="3200400" cy="2035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FormData-ba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csomagolja</a:t>
            </a:r>
            <a:r>
              <a:rPr lang="en-US" sz="1600" dirty="0">
                <a:solidFill>
                  <a:srgbClr val="5A7A72"/>
                </a:solidFill>
              </a:rPr>
              <a:t> a </a:t>
            </a:r>
            <a:r>
              <a:rPr lang="en-US" sz="1600" dirty="0" err="1">
                <a:solidFill>
                  <a:srgbClr val="5A7A72"/>
                </a:solidFill>
              </a:rPr>
              <a:t>képetElküldi</a:t>
            </a:r>
            <a:r>
              <a:rPr lang="en-US" sz="1600" dirty="0">
                <a:solidFill>
                  <a:srgbClr val="5A7A72"/>
                </a:solidFill>
              </a:rPr>
              <a:t> a</a:t>
            </a: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600" dirty="0">
              <a:solidFill>
                <a:srgbClr val="5A7A7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Cloudinary</a:t>
            </a:r>
            <a:r>
              <a:rPr lang="en-US" sz="1600" dirty="0">
                <a:solidFill>
                  <a:srgbClr val="5A7A72"/>
                </a:solidFill>
              </a:rPr>
              <a:t> API-nak, </a:t>
            </a:r>
            <a:r>
              <a:rPr lang="en-US" sz="1600" dirty="0" err="1">
                <a:solidFill>
                  <a:srgbClr val="5A7A72"/>
                </a:solidFill>
              </a:rPr>
              <a:t>visszaadja</a:t>
            </a:r>
            <a:r>
              <a:rPr lang="en-US" sz="1600" dirty="0">
                <a:solidFill>
                  <a:srgbClr val="5A7A72"/>
                </a:solidFill>
              </a:rPr>
              <a:t> a </a:t>
            </a:r>
            <a:r>
              <a:rPr lang="en-US" sz="1600" dirty="0" err="1">
                <a:solidFill>
                  <a:srgbClr val="5A7A72"/>
                </a:solidFill>
              </a:rPr>
              <a:t>secure_url</a:t>
            </a:r>
            <a:r>
              <a:rPr lang="en-US" sz="1600" dirty="0">
                <a:solidFill>
                  <a:srgbClr val="5A7A72"/>
                </a:solidFill>
              </a:rPr>
              <a:t>-t</a:t>
            </a:r>
            <a:endParaRPr lang="en-US" sz="900" dirty="0">
              <a:solidFill>
                <a:srgbClr val="5A7A72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759E26F8-7A25-DB01-F86C-CCE9C3F5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341" y="1052867"/>
            <a:ext cx="4586739" cy="32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33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79923-060B-8BD0-EC64-FA038D41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FFACD6-94BE-2568-CB69-B7575647CDBC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4C4E21-A991-49DE-2245-AC9E1A96AA35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en-US" sz="2200" b="1" dirty="0" err="1">
                <a:solidFill>
                  <a:srgbClr val="1A2E29"/>
                </a:solidFill>
              </a:rPr>
              <a:t>forráskód</a:t>
            </a:r>
            <a:r>
              <a:rPr lang="hu-HU" sz="2200" b="1" dirty="0">
                <a:solidFill>
                  <a:srgbClr val="1A2E29"/>
                </a:solidFill>
              </a:rPr>
              <a:t>ok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AC57D1-238F-4946-1554-066BD3A9CC3A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B740EFD-B403-C26B-D586-F187F11DBD25}"/>
              </a:ext>
            </a:extLst>
          </p:cNvPr>
          <p:cNvSpPr/>
          <p:nvPr/>
        </p:nvSpPr>
        <p:spPr>
          <a:xfrm>
            <a:off x="502920" y="932688"/>
            <a:ext cx="8138160" cy="3461004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9E9081-7EDA-8891-25D5-B80BB4652DE6}"/>
              </a:ext>
            </a:extLst>
          </p:cNvPr>
          <p:cNvSpPr/>
          <p:nvPr/>
        </p:nvSpPr>
        <p:spPr>
          <a:xfrm>
            <a:off x="502920" y="932688"/>
            <a:ext cx="45720" cy="3461004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6CEE94-C040-5C29-DAF6-DA1505732862}"/>
              </a:ext>
            </a:extLst>
          </p:cNvPr>
          <p:cNvSpPr/>
          <p:nvPr/>
        </p:nvSpPr>
        <p:spPr>
          <a:xfrm>
            <a:off x="640080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 err="1">
                <a:solidFill>
                  <a:srgbClr val="1A2E29"/>
                </a:solidFill>
              </a:rPr>
              <a:t>firebase.ts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382397F-792C-F653-431B-7B036C8A0E82}"/>
              </a:ext>
            </a:extLst>
          </p:cNvPr>
          <p:cNvSpPr/>
          <p:nvPr/>
        </p:nvSpPr>
        <p:spPr>
          <a:xfrm>
            <a:off x="640080" y="1935915"/>
            <a:ext cx="2815046" cy="20351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Konfiguráció</a:t>
            </a:r>
            <a:r>
              <a:rPr lang="en-US" sz="1600" dirty="0">
                <a:solidFill>
                  <a:srgbClr val="5A7A72"/>
                </a:solidFill>
              </a:rPr>
              <a:t> env </a:t>
            </a:r>
            <a:r>
              <a:rPr lang="en-US" sz="1600" dirty="0" err="1">
                <a:solidFill>
                  <a:srgbClr val="5A7A72"/>
                </a:solidFill>
              </a:rPr>
              <a:t>változókból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töltődik</a:t>
            </a:r>
            <a:r>
              <a:rPr lang="en-US" sz="1600" dirty="0">
                <a:solidFill>
                  <a:srgbClr val="5A7A72"/>
                </a:solidFill>
              </a:rPr>
              <a:t> be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getApps</a:t>
            </a:r>
            <a:r>
              <a:rPr lang="en-US" sz="1600" dirty="0">
                <a:solidFill>
                  <a:srgbClr val="5A7A72"/>
                </a:solidFill>
              </a:rPr>
              <a:t>() singleton pattern</a:t>
            </a:r>
            <a:endParaRPr lang="en-US" sz="900" dirty="0">
              <a:solidFill>
                <a:srgbClr val="5A7A72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EFC5EFEA-FD32-4228-237C-DE8F00D81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126" y="1223486"/>
            <a:ext cx="5185954" cy="269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03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hu-HU" sz="2200" b="1" dirty="0">
                <a:solidFill>
                  <a:srgbClr val="1A2E29"/>
                </a:solidFill>
              </a:rPr>
              <a:t>,</a:t>
            </a:r>
            <a:r>
              <a:rPr lang="en-US" sz="2200" b="1" dirty="0">
                <a:solidFill>
                  <a:srgbClr val="1A2E29"/>
                </a:solidFill>
              </a:rPr>
              <a:t> Firebase Firestore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0" name="Kép 39">
            <a:extLst>
              <a:ext uri="{FF2B5EF4-FFF2-40B4-BE49-F238E27FC236}">
                <a16:creationId xmlns:a16="http://schemas.microsoft.com/office/drawing/2014/main" id="{E74DF0CC-3D30-2CCE-03B1-8031C2841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1658"/>
            <a:ext cx="8142393" cy="35250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07D30-BCAC-1916-E21A-D653219EE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028EB3-D852-96F1-A870-9980DBE7650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04381E-89D7-43D4-FB8C-BCE8BCC2FDC7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Adatbázis</a:t>
            </a:r>
            <a:r>
              <a:rPr lang="hu-HU" sz="2200" b="1" dirty="0">
                <a:solidFill>
                  <a:srgbClr val="1A2E29"/>
                </a:solidFill>
              </a:rPr>
              <a:t>,</a:t>
            </a:r>
            <a:r>
              <a:rPr lang="en-US" sz="2200" b="1" dirty="0">
                <a:solidFill>
                  <a:srgbClr val="1A2E29"/>
                </a:solidFill>
              </a:rPr>
              <a:t> </a:t>
            </a:r>
            <a:r>
              <a:rPr lang="hu-HU" sz="2200" b="1" dirty="0" err="1">
                <a:solidFill>
                  <a:srgbClr val="1A2E29"/>
                </a:solidFill>
              </a:rPr>
              <a:t>Cloudinary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8135F01-DACE-D35E-AF68-83444514FF9E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E2AEE3E-8F24-6663-4B45-EAB0A366D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44083"/>
            <a:ext cx="8138160" cy="378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03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Biztonság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3931920" cy="14173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502920" y="932688"/>
            <a:ext cx="50292" cy="14173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640080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Firebase Authentication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1389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JWT token alapú </a:t>
            </a:r>
            <a:r>
              <a:rPr lang="en-US" sz="1600" dirty="0" err="1">
                <a:solidFill>
                  <a:srgbClr val="5A7A72"/>
                </a:solidFill>
              </a:rPr>
              <a:t>hitelesítés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Bearer token </a:t>
            </a:r>
            <a:r>
              <a:rPr lang="en-US" sz="1600" dirty="0" err="1">
                <a:solidFill>
                  <a:srgbClr val="5A7A72"/>
                </a:solidFill>
              </a:rPr>
              <a:t>minden</a:t>
            </a:r>
            <a:r>
              <a:rPr lang="en-US" sz="1600" dirty="0">
                <a:solidFill>
                  <a:srgbClr val="5A7A72"/>
                </a:solidFill>
              </a:rPr>
              <a:t> API </a:t>
            </a:r>
            <a:r>
              <a:rPr lang="en-US" sz="1600" dirty="0" err="1">
                <a:solidFill>
                  <a:srgbClr val="5A7A72"/>
                </a:solidFill>
              </a:rPr>
              <a:t>hívásnál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ellenőrizve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932688"/>
            <a:ext cx="3931920" cy="14173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4663440" y="932688"/>
            <a:ext cx="50292" cy="14173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800600" y="10424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RBAC Szerepkör Alapú Hozzáférés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7 </a:t>
            </a:r>
            <a:r>
              <a:rPr lang="en-US" sz="1600" dirty="0" err="1">
                <a:solidFill>
                  <a:srgbClr val="5A7A72"/>
                </a:solidFill>
              </a:rPr>
              <a:t>jogosultsági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szint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hasPermission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minden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endpointon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Firestore</a:t>
            </a:r>
            <a:r>
              <a:rPr lang="en-US" sz="1600" dirty="0">
                <a:solidFill>
                  <a:srgbClr val="5A7A72"/>
                </a:solidFill>
              </a:rPr>
              <a:t> rules szinten is </a:t>
            </a:r>
            <a:r>
              <a:rPr lang="en-US" sz="1600" dirty="0" err="1">
                <a:solidFill>
                  <a:srgbClr val="5A7A72"/>
                </a:solidFill>
              </a:rPr>
              <a:t>érvényesítve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2532888"/>
            <a:ext cx="3931920" cy="14173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502920" y="2532888"/>
            <a:ext cx="50292" cy="14173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40080" y="2642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2E29"/>
                </a:solidFill>
              </a:rPr>
              <a:t>Input </a:t>
            </a:r>
            <a:r>
              <a:rPr lang="en-US" b="1" dirty="0" err="1">
                <a:solidFill>
                  <a:srgbClr val="1A2E29"/>
                </a:solidFill>
              </a:rPr>
              <a:t>Validáció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" y="2920855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Adatok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mentés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előtt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tisztítva</a:t>
            </a:r>
            <a:r>
              <a:rPr lang="en-US" sz="1600" dirty="0">
                <a:solidFill>
                  <a:srgbClr val="5A7A72"/>
                </a:solidFill>
              </a:rPr>
              <a:t> és </a:t>
            </a:r>
            <a:r>
              <a:rPr lang="en-US" sz="1600" dirty="0" err="1">
                <a:solidFill>
                  <a:srgbClr val="5A7A72"/>
                </a:solidFill>
              </a:rPr>
              <a:t>hosszra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korlátozva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Math.max</a:t>
            </a:r>
            <a:r>
              <a:rPr lang="en-US" sz="1600" dirty="0">
                <a:solidFill>
                  <a:srgbClr val="5A7A72"/>
                </a:solidFill>
              </a:rPr>
              <a:t>/min </a:t>
            </a:r>
            <a:r>
              <a:rPr lang="en-US" sz="1600" dirty="0" err="1">
                <a:solidFill>
                  <a:srgbClr val="5A7A72"/>
                </a:solidFill>
              </a:rPr>
              <a:t>jegy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értékre</a:t>
            </a:r>
            <a:r>
              <a:rPr lang="en-US" sz="1600" dirty="0">
                <a:solidFill>
                  <a:srgbClr val="5A7A72"/>
                </a:solidFill>
              </a:rPr>
              <a:t>, substring </a:t>
            </a:r>
            <a:r>
              <a:rPr lang="en-US" sz="1600" dirty="0" err="1">
                <a:solidFill>
                  <a:srgbClr val="5A7A72"/>
                </a:solidFill>
              </a:rPr>
              <a:t>szöveges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mezőkre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532888"/>
            <a:ext cx="3931920" cy="141732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4663440" y="2532888"/>
            <a:ext cx="50292" cy="1417320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00600" y="2642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A2E29"/>
                </a:solidFill>
              </a:rPr>
              <a:t>Adatvédelem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29900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Firebase automatikus </a:t>
            </a:r>
            <a:r>
              <a:rPr lang="en-US" sz="1600" dirty="0" err="1">
                <a:solidFill>
                  <a:srgbClr val="5A7A72"/>
                </a:solidFill>
              </a:rPr>
              <a:t>titkosítás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Érzékeny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adatok</a:t>
            </a:r>
            <a:r>
              <a:rPr lang="en-US" sz="1600" dirty="0">
                <a:solidFill>
                  <a:srgbClr val="5A7A72"/>
                </a:solidFill>
              </a:rPr>
              <a:t> env </a:t>
            </a:r>
            <a:r>
              <a:rPr lang="en-US" sz="1600" dirty="0" err="1">
                <a:solidFill>
                  <a:srgbClr val="5A7A72"/>
                </a:solidFill>
              </a:rPr>
              <a:t>változókban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Cloudinary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biztonságos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secure_url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</a:rPr>
              <a:t>Tesztelés</a:t>
            </a:r>
            <a:r>
              <a:rPr lang="hu-HU" sz="2800" b="1" dirty="0">
                <a:solidFill>
                  <a:srgbClr val="FFFFFF"/>
                </a:solidFill>
              </a:rPr>
              <a:t>, </a:t>
            </a:r>
            <a:r>
              <a:rPr lang="en-US" sz="2800" b="1" dirty="0" err="1">
                <a:solidFill>
                  <a:srgbClr val="FFFFFF"/>
                </a:solidFill>
              </a:rPr>
              <a:t>Teljesítmény</a:t>
            </a:r>
            <a:r>
              <a:rPr lang="en-US" sz="2800" b="1" dirty="0">
                <a:solidFill>
                  <a:srgbClr val="FFFFFF"/>
                </a:solidFill>
              </a:rPr>
              <a:t> &amp; Deploy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E29"/>
                </a:solidFill>
              </a:rPr>
              <a:t>Tesztelés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635639" y="895400"/>
            <a:ext cx="1737360" cy="282171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2635639" y="859085"/>
            <a:ext cx="1737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356"/>
                </a:solidFill>
              </a:rPr>
              <a:t>15/15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35639" y="1015523"/>
            <a:ext cx="1737360" cy="14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7A72"/>
                </a:solidFill>
              </a:rPr>
              <a:t>Unit teszt sikeres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9141" y="888627"/>
            <a:ext cx="1241949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610581" y="888627"/>
            <a:ext cx="1184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2F6356"/>
                </a:solidFill>
              </a:rPr>
              <a:t>Vitest</a:t>
            </a:r>
            <a:r>
              <a:rPr lang="hu-HU" sz="900" b="1" dirty="0">
                <a:solidFill>
                  <a:srgbClr val="2F6356"/>
                </a:solidFill>
              </a:rPr>
              <a:t> : </a:t>
            </a:r>
            <a:r>
              <a:rPr lang="en-US" sz="900" b="1" dirty="0">
                <a:solidFill>
                  <a:srgbClr val="2F6356"/>
                </a:solidFill>
              </a:rPr>
              <a:t>Unit tesztek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79562" y="895401"/>
            <a:ext cx="1499749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Text 47"/>
          <p:cNvSpPr/>
          <p:nvPr/>
        </p:nvSpPr>
        <p:spPr>
          <a:xfrm>
            <a:off x="4771002" y="895400"/>
            <a:ext cx="1430795" cy="299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F6356"/>
                </a:solidFill>
              </a:rPr>
              <a:t>Playwright </a:t>
            </a:r>
            <a:r>
              <a:rPr lang="hu-HU" sz="900" b="1" dirty="0">
                <a:solidFill>
                  <a:srgbClr val="2F6356"/>
                </a:solidFill>
              </a:rPr>
              <a:t>:</a:t>
            </a:r>
            <a:r>
              <a:rPr lang="en-US" sz="900" b="1" dirty="0">
                <a:solidFill>
                  <a:srgbClr val="2F6356"/>
                </a:solidFill>
              </a:rPr>
              <a:t> E2E tesztek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79562" y="1169721"/>
            <a:ext cx="1499749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EC325EA-3760-4F54-6AA1-9698FDF2BBC2}"/>
              </a:ext>
            </a:extLst>
          </p:cNvPr>
          <p:cNvSpPr/>
          <p:nvPr/>
        </p:nvSpPr>
        <p:spPr>
          <a:xfrm>
            <a:off x="6887499" y="897854"/>
            <a:ext cx="1737360" cy="27889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6">
            <a:extLst>
              <a:ext uri="{FF2B5EF4-FFF2-40B4-BE49-F238E27FC236}">
                <a16:creationId xmlns:a16="http://schemas.microsoft.com/office/drawing/2014/main" id="{6CE17F6B-9713-BAF5-9A73-4C011211106A}"/>
              </a:ext>
            </a:extLst>
          </p:cNvPr>
          <p:cNvSpPr/>
          <p:nvPr/>
        </p:nvSpPr>
        <p:spPr>
          <a:xfrm>
            <a:off x="6887499" y="1001349"/>
            <a:ext cx="1737360" cy="145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800" dirty="0">
                <a:solidFill>
                  <a:srgbClr val="5A7A72"/>
                </a:solidFill>
              </a:rPr>
              <a:t>E2E </a:t>
            </a:r>
            <a:r>
              <a:rPr lang="en-US" sz="800" dirty="0" err="1">
                <a:solidFill>
                  <a:srgbClr val="5A7A72"/>
                </a:solidFill>
              </a:rPr>
              <a:t>teszt</a:t>
            </a:r>
            <a:r>
              <a:rPr lang="en-US" sz="800" dirty="0">
                <a:solidFill>
                  <a:srgbClr val="5A7A72"/>
                </a:solidFill>
              </a:rPr>
              <a:t> </a:t>
            </a:r>
            <a:r>
              <a:rPr lang="en-US" sz="800" dirty="0" err="1">
                <a:solidFill>
                  <a:srgbClr val="5A7A72"/>
                </a:solidFill>
              </a:rPr>
              <a:t>sikeres</a:t>
            </a:r>
            <a:endParaRPr lang="en-US" sz="800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AF0D2060-A978-630A-BA72-03DD9BCE57D3}"/>
              </a:ext>
            </a:extLst>
          </p:cNvPr>
          <p:cNvSpPr/>
          <p:nvPr/>
        </p:nvSpPr>
        <p:spPr>
          <a:xfrm>
            <a:off x="6887499" y="848104"/>
            <a:ext cx="173736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2F6356"/>
                </a:solidFill>
              </a:rPr>
              <a:t>2</a:t>
            </a:r>
            <a:r>
              <a:rPr lang="hu-HU" sz="1400" b="1" dirty="0">
                <a:solidFill>
                  <a:srgbClr val="2F6356"/>
                </a:solidFill>
              </a:rPr>
              <a:t>3</a:t>
            </a:r>
            <a:r>
              <a:rPr lang="en-US" sz="1400" b="1" dirty="0">
                <a:solidFill>
                  <a:srgbClr val="2F6356"/>
                </a:solidFill>
              </a:rPr>
              <a:t>/23</a:t>
            </a:r>
            <a:endParaRPr lang="en-US" sz="14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6C703058-CCCC-4EAF-3EAF-DF73B050AB17}"/>
              </a:ext>
            </a:extLst>
          </p:cNvPr>
          <p:cNvSpPr/>
          <p:nvPr/>
        </p:nvSpPr>
        <p:spPr>
          <a:xfrm>
            <a:off x="409544" y="1286348"/>
            <a:ext cx="1656504" cy="1948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rgbClr val="5A7A72"/>
                </a:solidFill>
              </a:rPr>
              <a:t>Button, </a:t>
            </a:r>
            <a:r>
              <a:rPr lang="hu-HU" sz="1400" dirty="0" err="1">
                <a:solidFill>
                  <a:srgbClr val="5A7A72"/>
                </a:solidFill>
              </a:rPr>
              <a:t>Card</a:t>
            </a:r>
            <a:r>
              <a:rPr lang="hu-HU" sz="1400" dirty="0">
                <a:solidFill>
                  <a:srgbClr val="5A7A72"/>
                </a:solidFill>
              </a:rPr>
              <a:t>, Input komponensek tesztelve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 err="1">
                <a:solidFill>
                  <a:srgbClr val="5A7A72"/>
                </a:solidFill>
              </a:rPr>
              <a:t>jsdom</a:t>
            </a:r>
            <a:r>
              <a:rPr lang="hu-HU" sz="1400" dirty="0">
                <a:solidFill>
                  <a:srgbClr val="5A7A72"/>
                </a:solidFill>
              </a:rPr>
              <a:t> környezet, 15 teszt eset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 err="1">
                <a:solidFill>
                  <a:srgbClr val="5A7A72"/>
                </a:solidFill>
              </a:rPr>
              <a:t>npm</a:t>
            </a:r>
            <a:r>
              <a:rPr lang="hu-HU" sz="1400" dirty="0">
                <a:solidFill>
                  <a:srgbClr val="5A7A72"/>
                </a:solidFill>
              </a:rPr>
              <a:t> test</a:t>
            </a:r>
            <a:endParaRPr lang="en-US" sz="1400" dirty="0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6FDD122B-B80C-7C3A-ADDC-D012B7F3D7DF}"/>
              </a:ext>
            </a:extLst>
          </p:cNvPr>
          <p:cNvSpPr/>
          <p:nvPr/>
        </p:nvSpPr>
        <p:spPr>
          <a:xfrm>
            <a:off x="4643433" y="1330578"/>
            <a:ext cx="1420262" cy="202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rgbClr val="5A7A72"/>
                </a:solidFill>
              </a:rPr>
              <a:t>Valódi </a:t>
            </a:r>
            <a:r>
              <a:rPr lang="hu-HU" sz="1400" dirty="0" err="1">
                <a:solidFill>
                  <a:srgbClr val="5A7A72"/>
                </a:solidFill>
              </a:rPr>
              <a:t>Chromium</a:t>
            </a:r>
            <a:r>
              <a:rPr lang="hu-HU" sz="1400" dirty="0">
                <a:solidFill>
                  <a:srgbClr val="5A7A72"/>
                </a:solidFill>
              </a:rPr>
              <a:t> böngészőben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rgbClr val="5A7A72"/>
                </a:solidFill>
              </a:rPr>
              <a:t>Bejelentkezés, </a:t>
            </a:r>
            <a:r>
              <a:rPr lang="hu-HU" sz="1400" dirty="0" err="1">
                <a:solidFill>
                  <a:srgbClr val="5A7A72"/>
                </a:solidFill>
              </a:rPr>
              <a:t>form</a:t>
            </a:r>
            <a:r>
              <a:rPr lang="hu-HU" sz="1400" dirty="0">
                <a:solidFill>
                  <a:srgbClr val="5A7A72"/>
                </a:solidFill>
              </a:rPr>
              <a:t> validáció, </a:t>
            </a:r>
            <a:r>
              <a:rPr lang="hu-HU" sz="1400" dirty="0" err="1">
                <a:solidFill>
                  <a:srgbClr val="5A7A72"/>
                </a:solidFill>
              </a:rPr>
              <a:t>reszponzivitás</a:t>
            </a:r>
            <a:endParaRPr lang="hu-HU" sz="1400" dirty="0">
              <a:solidFill>
                <a:srgbClr val="5A7A72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1400" dirty="0">
                <a:solidFill>
                  <a:srgbClr val="5A7A72"/>
                </a:solidFill>
              </a:rPr>
              <a:t>23 teszt eset, </a:t>
            </a:r>
            <a:r>
              <a:rPr lang="hu-HU" sz="1400" dirty="0" err="1">
                <a:solidFill>
                  <a:srgbClr val="5A7A72"/>
                </a:solidFill>
              </a:rPr>
              <a:t>npm</a:t>
            </a:r>
            <a:r>
              <a:rPr lang="hu-HU" sz="1400" dirty="0">
                <a:solidFill>
                  <a:srgbClr val="5A7A72"/>
                </a:solidFill>
              </a:rPr>
              <a:t> </a:t>
            </a:r>
            <a:r>
              <a:rPr lang="hu-HU" sz="1400" dirty="0" err="1">
                <a:solidFill>
                  <a:srgbClr val="5A7A72"/>
                </a:solidFill>
              </a:rPr>
              <a:t>run</a:t>
            </a:r>
            <a:r>
              <a:rPr lang="hu-HU" sz="1400" dirty="0">
                <a:solidFill>
                  <a:srgbClr val="5A7A72"/>
                </a:solidFill>
              </a:rPr>
              <a:t> test:e2e</a:t>
            </a:r>
            <a:endParaRPr lang="en-US" sz="1400" dirty="0"/>
          </a:p>
        </p:txBody>
      </p:sp>
      <p:pic>
        <p:nvPicPr>
          <p:cNvPr id="77" name="Kép 76">
            <a:extLst>
              <a:ext uri="{FF2B5EF4-FFF2-40B4-BE49-F238E27FC236}">
                <a16:creationId xmlns:a16="http://schemas.microsoft.com/office/drawing/2014/main" id="{78602D99-748F-44BF-2A29-B99308451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695" y="1280241"/>
            <a:ext cx="2577385" cy="3227198"/>
          </a:xfrm>
          <a:prstGeom prst="rect">
            <a:avLst/>
          </a:prstGeom>
        </p:spPr>
      </p:pic>
      <p:pic>
        <p:nvPicPr>
          <p:cNvPr id="79" name="Kép 78">
            <a:extLst>
              <a:ext uri="{FF2B5EF4-FFF2-40B4-BE49-F238E27FC236}">
                <a16:creationId xmlns:a16="http://schemas.microsoft.com/office/drawing/2014/main" id="{68333E5A-FA7C-5E28-1394-7D98D7113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5927" y="1286349"/>
            <a:ext cx="2297072" cy="3281531"/>
          </a:xfrm>
          <a:prstGeom prst="rect">
            <a:avLst/>
          </a:prstGeom>
        </p:spPr>
      </p:pic>
      <p:pic>
        <p:nvPicPr>
          <p:cNvPr id="83" name="Kép 82">
            <a:extLst>
              <a:ext uri="{FF2B5EF4-FFF2-40B4-BE49-F238E27FC236}">
                <a16:creationId xmlns:a16="http://schemas.microsoft.com/office/drawing/2014/main" id="{8DC851E6-01B8-E3C8-6903-0AF11FFB5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41" y="3429653"/>
            <a:ext cx="1143126" cy="1143126"/>
          </a:xfrm>
          <a:prstGeom prst="rect">
            <a:avLst/>
          </a:prstGeom>
        </p:spPr>
      </p:pic>
      <p:pic>
        <p:nvPicPr>
          <p:cNvPr id="86" name="Kép 85">
            <a:extLst>
              <a:ext uri="{FF2B5EF4-FFF2-40B4-BE49-F238E27FC236}">
                <a16:creationId xmlns:a16="http://schemas.microsoft.com/office/drawing/2014/main" id="{D0F41805-49E7-7D6F-2343-09D7D7F91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7311" y="3234962"/>
            <a:ext cx="1532507" cy="153250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61713-63FC-DCCD-27E7-E23372BF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79B5DF-7B3E-DC81-C996-048078EE27C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3BDAB2-4DA2-467D-547A-D3AA61E75AE6}"/>
              </a:ext>
            </a:extLst>
          </p:cNvPr>
          <p:cNvSpPr/>
          <p:nvPr/>
        </p:nvSpPr>
        <p:spPr>
          <a:xfrm>
            <a:off x="502920" y="201168"/>
            <a:ext cx="12946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 err="1">
                <a:solidFill>
                  <a:srgbClr val="1A2E29"/>
                </a:solidFill>
              </a:rPr>
              <a:t>Tesztelés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327BEA-397D-36FF-48B5-C78BAC8036FE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E3EAA7E-11CD-0C64-2A1E-626D72395BAF}"/>
              </a:ext>
            </a:extLst>
          </p:cNvPr>
          <p:cNvSpPr/>
          <p:nvPr/>
        </p:nvSpPr>
        <p:spPr>
          <a:xfrm>
            <a:off x="4709160" y="960119"/>
            <a:ext cx="3931920" cy="3565893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6AB1CDA-8D82-B670-BAD5-D68F92C2A4E1}"/>
              </a:ext>
            </a:extLst>
          </p:cNvPr>
          <p:cNvSpPr/>
          <p:nvPr/>
        </p:nvSpPr>
        <p:spPr>
          <a:xfrm>
            <a:off x="4709160" y="960120"/>
            <a:ext cx="45720" cy="356589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9778DE-1CF9-D037-51E1-0271D1ECB68F}"/>
              </a:ext>
            </a:extLst>
          </p:cNvPr>
          <p:cNvSpPr/>
          <p:nvPr/>
        </p:nvSpPr>
        <p:spPr>
          <a:xfrm>
            <a:off x="4846320" y="10698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A2E29"/>
                </a:solidFill>
              </a:rPr>
              <a:t>Teljesítmény</a:t>
            </a:r>
            <a:r>
              <a:rPr lang="en-US" b="1" dirty="0">
                <a:solidFill>
                  <a:srgbClr val="1A2E29"/>
                </a:solidFill>
              </a:rPr>
              <a:t> </a:t>
            </a:r>
            <a:r>
              <a:rPr lang="hu-HU" b="1" dirty="0">
                <a:solidFill>
                  <a:srgbClr val="1A2E29"/>
                </a:solidFill>
              </a:rPr>
              <a:t>:</a:t>
            </a:r>
            <a:r>
              <a:rPr lang="en-US" b="1" dirty="0">
                <a:solidFill>
                  <a:srgbClr val="1A2E29"/>
                </a:solidFill>
              </a:rPr>
              <a:t> Lighthouse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19C289-6755-E96C-6DB3-694CFD047DFB}"/>
              </a:ext>
            </a:extLst>
          </p:cNvPr>
          <p:cNvSpPr/>
          <p:nvPr/>
        </p:nvSpPr>
        <p:spPr>
          <a:xfrm>
            <a:off x="4846320" y="1417320"/>
            <a:ext cx="3657600" cy="115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Google Lighthouse </a:t>
            </a:r>
            <a:r>
              <a:rPr lang="en-US" sz="1600" dirty="0" err="1">
                <a:solidFill>
                  <a:srgbClr val="5A7A72"/>
                </a:solidFill>
              </a:rPr>
              <a:t>tesztekkel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mérve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A7A72"/>
                </a:solidFill>
              </a:rPr>
              <a:t>Performance, Accessibility, Best Practices, SEO </a:t>
            </a:r>
            <a:r>
              <a:rPr lang="en-US" sz="1600" dirty="0" err="1">
                <a:solidFill>
                  <a:srgbClr val="5A7A72"/>
                </a:solidFill>
              </a:rPr>
              <a:t>kategóriák</a:t>
            </a:r>
            <a:endParaRPr lang="en-US" sz="1600" dirty="0">
              <a:solidFill>
                <a:srgbClr val="5A7A7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5A7A72"/>
                </a:solidFill>
              </a:rPr>
              <a:t>Vercel-en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deployolt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verzión</a:t>
            </a:r>
            <a:r>
              <a:rPr lang="en-US" sz="1600" dirty="0">
                <a:solidFill>
                  <a:srgbClr val="5A7A72"/>
                </a:solidFill>
              </a:rPr>
              <a:t> </a:t>
            </a:r>
            <a:r>
              <a:rPr lang="en-US" sz="1600" dirty="0" err="1">
                <a:solidFill>
                  <a:srgbClr val="5A7A72"/>
                </a:solidFill>
              </a:rPr>
              <a:t>futtatva</a:t>
            </a:r>
            <a:endParaRPr lang="en-US"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174AD06-CCB3-54D2-1C1F-7E27BCEA43E1}"/>
              </a:ext>
            </a:extLst>
          </p:cNvPr>
          <p:cNvSpPr/>
          <p:nvPr/>
        </p:nvSpPr>
        <p:spPr>
          <a:xfrm>
            <a:off x="495300" y="959643"/>
            <a:ext cx="3931920" cy="356589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A973300-9BFC-FF19-B97D-2D2C481E9734}"/>
              </a:ext>
            </a:extLst>
          </p:cNvPr>
          <p:cNvSpPr/>
          <p:nvPr/>
        </p:nvSpPr>
        <p:spPr>
          <a:xfrm>
            <a:off x="495300" y="959643"/>
            <a:ext cx="50292" cy="356589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D65A97D-DE72-1C80-5B63-4626DA699387}"/>
              </a:ext>
            </a:extLst>
          </p:cNvPr>
          <p:cNvSpPr/>
          <p:nvPr/>
        </p:nvSpPr>
        <p:spPr>
          <a:xfrm>
            <a:off x="632460" y="1069371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1A2E29"/>
                </a:solidFill>
              </a:rPr>
              <a:t>Manuális</a:t>
            </a:r>
            <a:r>
              <a:rPr lang="en-US" b="1" dirty="0">
                <a:solidFill>
                  <a:srgbClr val="1A2E29"/>
                </a:solidFill>
              </a:rPr>
              <a:t> </a:t>
            </a:r>
            <a:r>
              <a:rPr lang="en-US" b="1" dirty="0" err="1">
                <a:solidFill>
                  <a:srgbClr val="1A2E29"/>
                </a:solidFill>
              </a:rPr>
              <a:t>tesztelés</a:t>
            </a:r>
            <a:r>
              <a:rPr lang="hu-HU" b="1" dirty="0">
                <a:solidFill>
                  <a:srgbClr val="1A2E29"/>
                </a:solidFill>
              </a:rPr>
              <a:t> :</a:t>
            </a:r>
            <a:r>
              <a:rPr lang="en-US" b="1" dirty="0">
                <a:solidFill>
                  <a:srgbClr val="1A2E29"/>
                </a:solidFill>
              </a:rPr>
              <a:t> </a:t>
            </a:r>
            <a:r>
              <a:rPr lang="en-US" b="1" dirty="0" err="1">
                <a:solidFill>
                  <a:srgbClr val="1A2E29"/>
                </a:solidFill>
              </a:rPr>
              <a:t>Vercel</a:t>
            </a:r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6D2DB66-74D6-1A14-FD96-7B644DD5032B}"/>
              </a:ext>
            </a:extLst>
          </p:cNvPr>
          <p:cNvSpPr/>
          <p:nvPr/>
        </p:nvSpPr>
        <p:spPr>
          <a:xfrm>
            <a:off x="632460" y="1416842"/>
            <a:ext cx="3657600" cy="1816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 err="1">
                <a:solidFill>
                  <a:srgbClr val="5A7A72"/>
                </a:solidFill>
              </a:rPr>
              <a:t>Vercel</a:t>
            </a:r>
            <a:r>
              <a:rPr lang="hu-HU" sz="1600" dirty="0">
                <a:solidFill>
                  <a:srgbClr val="5A7A72"/>
                </a:solidFill>
              </a:rPr>
              <a:t>-en </a:t>
            </a:r>
            <a:r>
              <a:rPr lang="hu-HU" sz="1600" dirty="0" err="1">
                <a:solidFill>
                  <a:srgbClr val="5A7A72"/>
                </a:solidFill>
              </a:rPr>
              <a:t>deployolva</a:t>
            </a:r>
            <a:r>
              <a:rPr lang="hu-HU" sz="1600" dirty="0">
                <a:solidFill>
                  <a:srgbClr val="5A7A72"/>
                </a:solidFill>
              </a:rPr>
              <a:t>, éles környezetben tesztelve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Különböző szerepkörökkel ellenőrizve (</a:t>
            </a:r>
            <a:r>
              <a:rPr lang="hu-HU" sz="1600" dirty="0" err="1">
                <a:solidFill>
                  <a:srgbClr val="5A7A72"/>
                </a:solidFill>
              </a:rPr>
              <a:t>admin</a:t>
            </a:r>
            <a:r>
              <a:rPr lang="hu-HU" sz="1600" dirty="0">
                <a:solidFill>
                  <a:srgbClr val="5A7A72"/>
                </a:solidFill>
              </a:rPr>
              <a:t>, tanár, diák, szülő)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Mobil és </a:t>
            </a:r>
            <a:r>
              <a:rPr lang="hu-HU" sz="1600" dirty="0" err="1">
                <a:solidFill>
                  <a:srgbClr val="5A7A72"/>
                </a:solidFill>
              </a:rPr>
              <a:t>desktop</a:t>
            </a:r>
            <a:r>
              <a:rPr lang="hu-HU" sz="1600" dirty="0">
                <a:solidFill>
                  <a:srgbClr val="5A7A72"/>
                </a:solidFill>
              </a:rPr>
              <a:t> nézetben tesztelve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srgbClr val="5A7A72"/>
                </a:solidFill>
              </a:rPr>
              <a:t>Valós </a:t>
            </a:r>
            <a:r>
              <a:rPr lang="hu-HU" sz="1600" dirty="0" err="1">
                <a:solidFill>
                  <a:srgbClr val="5A7A72"/>
                </a:solidFill>
              </a:rPr>
              <a:t>Firebase</a:t>
            </a:r>
            <a:r>
              <a:rPr lang="hu-HU" sz="1600" dirty="0">
                <a:solidFill>
                  <a:srgbClr val="5A7A72"/>
                </a:solidFill>
              </a:rPr>
              <a:t> adatbázissal működik</a:t>
            </a:r>
            <a:endParaRPr lang="en-US" sz="1600" dirty="0"/>
          </a:p>
        </p:txBody>
      </p:sp>
      <p:pic>
        <p:nvPicPr>
          <p:cNvPr id="3074" name="Picture 2" descr="lighthouse - npm">
            <a:extLst>
              <a:ext uri="{FF2B5EF4-FFF2-40B4-BE49-F238E27FC236}">
                <a16:creationId xmlns:a16="http://schemas.microsoft.com/office/drawing/2014/main" id="{F6800009-63ED-13F0-8101-7197495F2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243" y="2402259"/>
            <a:ext cx="2123753" cy="21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33CFB4A1-4A75-625D-BEDF-44DD1CB62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57" y="3127612"/>
            <a:ext cx="3519925" cy="69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64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3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800" b="1" dirty="0">
                <a:solidFill>
                  <a:srgbClr val="FFFFFF"/>
                </a:solidFill>
              </a:rPr>
              <a:t>Bemutatás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200" b="1" dirty="0">
                <a:solidFill>
                  <a:srgbClr val="1A2E29"/>
                </a:solidFill>
              </a:rPr>
              <a:t>Bemutatás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502920" y="955548"/>
            <a:ext cx="8138160" cy="402336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502920" y="955548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lumine-</a:t>
            </a:r>
            <a:r>
              <a:rPr lang="en-US" sz="24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project.vercel.app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16459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29"/>
                </a:solidFill>
              </a:rPr>
              <a:t>Demo bejelentkezési adatok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011680"/>
            <a:ext cx="1920240" cy="15544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2"/>
          <p:cNvSpPr/>
          <p:nvPr/>
        </p:nvSpPr>
        <p:spPr>
          <a:xfrm>
            <a:off x="502920" y="2011680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5029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356"/>
                </a:solidFill>
              </a:rPr>
              <a:t>Admin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admin1@lumine.edu.hu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2706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admin123456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24328" y="2011680"/>
            <a:ext cx="1920240" cy="15544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7"/>
          <p:cNvSpPr/>
          <p:nvPr/>
        </p:nvSpPr>
        <p:spPr>
          <a:xfrm>
            <a:off x="2624328" y="2011680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2624328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900" b="1" dirty="0" err="1">
                <a:solidFill>
                  <a:srgbClr val="2F6356"/>
                </a:solidFill>
              </a:rPr>
              <a:t>Osztalyfőnök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15768" y="23591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800" dirty="0" err="1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osztalyfonok</a:t>
            </a:r>
            <a:r>
              <a:rPr lang="en-US" sz="80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1@lumine.edu.hu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15768" y="2706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850" dirty="0" err="1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osztalyfonok</a:t>
            </a:r>
            <a:r>
              <a:rPr lang="en-US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123456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45736" y="2011680"/>
            <a:ext cx="1920240" cy="15544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32"/>
          <p:cNvSpPr/>
          <p:nvPr/>
        </p:nvSpPr>
        <p:spPr>
          <a:xfrm>
            <a:off x="4745736" y="2011680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4745736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356"/>
                </a:solidFill>
              </a:rPr>
              <a:t>Diák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diak1@lumine.edu.hu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7176" y="2706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diak123456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67144" y="2011680"/>
            <a:ext cx="1920240" cy="1554480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37"/>
          <p:cNvSpPr/>
          <p:nvPr/>
        </p:nvSpPr>
        <p:spPr>
          <a:xfrm>
            <a:off x="6867144" y="2011680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6867144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356"/>
                </a:solidFill>
              </a:rPr>
              <a:t>Szülő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58584" y="23591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E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szulo1@lumine.edu.hu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58584" y="2706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szulo123456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63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34E80-78F4-0DD5-626D-22D73A17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3799C-1BAE-8B76-6A54-08A427CC6562}"/>
              </a:ext>
            </a:extLst>
          </p:cNvPr>
          <p:cNvSpPr/>
          <p:nvPr/>
        </p:nvSpPr>
        <p:spPr>
          <a:xfrm>
            <a:off x="640080" y="211455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0</a:t>
            </a:r>
            <a:r>
              <a:rPr lang="hu-HU" sz="4000" b="1" dirty="0">
                <a:solidFill>
                  <a:srgbClr val="FFFFFF"/>
                </a:solidFill>
              </a:rPr>
              <a:t>5</a:t>
            </a:r>
            <a:endParaRPr lang="en-US" sz="4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C59877-EB00-9F10-0293-C369AAD4FBF9}"/>
              </a:ext>
            </a:extLst>
          </p:cNvPr>
          <p:cNvSpPr/>
          <p:nvPr/>
        </p:nvSpPr>
        <p:spPr>
          <a:xfrm>
            <a:off x="2057400" y="2068830"/>
            <a:ext cx="27432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7F1C56-A969-A9A7-DD62-A701E964FBFA}"/>
              </a:ext>
            </a:extLst>
          </p:cNvPr>
          <p:cNvSpPr/>
          <p:nvPr/>
        </p:nvSpPr>
        <p:spPr>
          <a:xfrm>
            <a:off x="2240280" y="211455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800" b="1" dirty="0">
                <a:solidFill>
                  <a:srgbClr val="FFFFFF"/>
                </a:solidFill>
              </a:rPr>
              <a:t>Jövőbeli fejlesztések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472633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CCE9D-D0B6-B21D-95AD-2C6E1FE31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7310E8-73FD-053B-4B29-23EC22E1C0F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734403-DCEC-7349-621D-AF9AE69B14BE}"/>
              </a:ext>
            </a:extLst>
          </p:cNvPr>
          <p:cNvSpPr/>
          <p:nvPr/>
        </p:nvSpPr>
        <p:spPr>
          <a:xfrm>
            <a:off x="502920" y="201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hu-HU" sz="2200" b="1" dirty="0">
                <a:solidFill>
                  <a:srgbClr val="1A2E29"/>
                </a:solidFill>
              </a:rPr>
              <a:t>Jövőbeli fejlesztések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E196E9-66AE-3E8F-7498-CE7D6E395D7E}"/>
              </a:ext>
            </a:extLst>
          </p:cNvPr>
          <p:cNvSpPr/>
          <p:nvPr/>
        </p:nvSpPr>
        <p:spPr>
          <a:xfrm>
            <a:off x="502920" y="749808"/>
            <a:ext cx="8138160" cy="13716"/>
          </a:xfrm>
          <a:prstGeom prst="rect">
            <a:avLst/>
          </a:prstGeom>
          <a:solidFill>
            <a:srgbClr val="C2D6D0"/>
          </a:solidFill>
          <a:ln w="1270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466009-3B21-E2BD-6BFC-7CA1F731E7E7}"/>
              </a:ext>
            </a:extLst>
          </p:cNvPr>
          <p:cNvSpPr/>
          <p:nvPr/>
        </p:nvSpPr>
        <p:spPr>
          <a:xfrm>
            <a:off x="502920" y="1036864"/>
            <a:ext cx="1920240" cy="334311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16B0B75-D899-12B6-CAD0-2A1512F91E3F}"/>
              </a:ext>
            </a:extLst>
          </p:cNvPr>
          <p:cNvSpPr/>
          <p:nvPr/>
        </p:nvSpPr>
        <p:spPr>
          <a:xfrm>
            <a:off x="502920" y="1036864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8451578-7C42-F4B5-1BD5-FCBF2C35B5A6}"/>
              </a:ext>
            </a:extLst>
          </p:cNvPr>
          <p:cNvSpPr/>
          <p:nvPr/>
        </p:nvSpPr>
        <p:spPr>
          <a:xfrm>
            <a:off x="502920" y="1036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356"/>
                </a:solidFill>
              </a:rPr>
              <a:t>Push értesítések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32D7835-BC36-AF0A-6D16-3FAACCA6A652}"/>
              </a:ext>
            </a:extLst>
          </p:cNvPr>
          <p:cNvSpPr/>
          <p:nvPr/>
        </p:nvSpPr>
        <p:spPr>
          <a:xfrm>
            <a:off x="594360" y="1731808"/>
            <a:ext cx="1737360" cy="1573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Valós idejű értesítések új jegyről, hiányzásról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Bejelentkezés nélkül is működik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Szülők és diákok azonnal értesülnek</a:t>
            </a:r>
            <a:endParaRPr lang="en-US" sz="8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CB7D36B-9A3F-DE8D-AD64-D6AA397638F8}"/>
              </a:ext>
            </a:extLst>
          </p:cNvPr>
          <p:cNvSpPr/>
          <p:nvPr/>
        </p:nvSpPr>
        <p:spPr>
          <a:xfrm>
            <a:off x="2624328" y="1036864"/>
            <a:ext cx="1920240" cy="334311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09A1109-10E5-9E5F-4991-D9878EEF3B0F}"/>
              </a:ext>
            </a:extLst>
          </p:cNvPr>
          <p:cNvSpPr/>
          <p:nvPr/>
        </p:nvSpPr>
        <p:spPr>
          <a:xfrm>
            <a:off x="2624328" y="1036864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22CADF-DB83-1A5D-F245-2F7D6815206A}"/>
              </a:ext>
            </a:extLst>
          </p:cNvPr>
          <p:cNvSpPr/>
          <p:nvPr/>
        </p:nvSpPr>
        <p:spPr>
          <a:xfrm>
            <a:off x="2624328" y="1036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2F6356"/>
                </a:solidFill>
              </a:rPr>
              <a:t>Fájl feltöltés házi feladatokhoz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65D5437-ABA8-75D1-886C-501C0D360156}"/>
              </a:ext>
            </a:extLst>
          </p:cNvPr>
          <p:cNvSpPr/>
          <p:nvPr/>
        </p:nvSpPr>
        <p:spPr>
          <a:xfrm>
            <a:off x="4745736" y="1036864"/>
            <a:ext cx="1920240" cy="334311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63ADA4A-674F-8E9D-496A-C5DE52D34AD7}"/>
              </a:ext>
            </a:extLst>
          </p:cNvPr>
          <p:cNvSpPr/>
          <p:nvPr/>
        </p:nvSpPr>
        <p:spPr>
          <a:xfrm>
            <a:off x="4745736" y="1036864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8A8532F-A03E-1458-544E-932BF9BDDC0F}"/>
              </a:ext>
            </a:extLst>
          </p:cNvPr>
          <p:cNvSpPr/>
          <p:nvPr/>
        </p:nvSpPr>
        <p:spPr>
          <a:xfrm>
            <a:off x="4745736" y="1036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6356"/>
                </a:solidFill>
              </a:rPr>
              <a:t>Automatikus </a:t>
            </a:r>
            <a:r>
              <a:rPr lang="en-US" sz="1100" b="1" dirty="0" err="1">
                <a:solidFill>
                  <a:srgbClr val="2F6356"/>
                </a:solidFill>
              </a:rPr>
              <a:t>tesztjavítás</a:t>
            </a:r>
            <a:r>
              <a:rPr lang="en-US" sz="1100" b="1" dirty="0">
                <a:solidFill>
                  <a:srgbClr val="2F6356"/>
                </a:solidFill>
              </a:rPr>
              <a:t> (AI)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F63008B-2728-6354-ABD5-2B5DBAC6D7FF}"/>
              </a:ext>
            </a:extLst>
          </p:cNvPr>
          <p:cNvSpPr/>
          <p:nvPr/>
        </p:nvSpPr>
        <p:spPr>
          <a:xfrm>
            <a:off x="6867144" y="1036864"/>
            <a:ext cx="1920240" cy="3343112"/>
          </a:xfrm>
          <a:prstGeom prst="rect">
            <a:avLst/>
          </a:prstGeom>
          <a:solidFill>
            <a:srgbClr val="F4F8F6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880688E-94D2-8106-A115-2669344A35B3}"/>
              </a:ext>
            </a:extLst>
          </p:cNvPr>
          <p:cNvSpPr/>
          <p:nvPr/>
        </p:nvSpPr>
        <p:spPr>
          <a:xfrm>
            <a:off x="6867144" y="1036864"/>
            <a:ext cx="1920240" cy="274320"/>
          </a:xfrm>
          <a:prstGeom prst="rect">
            <a:avLst/>
          </a:prstGeom>
          <a:solidFill>
            <a:srgbClr val="E8F0EE"/>
          </a:solidFill>
          <a:ln w="6350">
            <a:solidFill>
              <a:srgbClr val="C2D6D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E7A0CBE-3E3F-3022-BBD4-F022BCFF59AD}"/>
              </a:ext>
            </a:extLst>
          </p:cNvPr>
          <p:cNvSpPr/>
          <p:nvPr/>
        </p:nvSpPr>
        <p:spPr>
          <a:xfrm>
            <a:off x="6867144" y="1036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900" b="1" dirty="0">
                <a:solidFill>
                  <a:srgbClr val="2F6356"/>
                </a:solidFill>
              </a:rPr>
              <a:t>Portás </a:t>
            </a:r>
            <a:r>
              <a:rPr lang="hu-HU" sz="900" b="1" dirty="0" err="1">
                <a:solidFill>
                  <a:srgbClr val="2F6356"/>
                </a:solidFill>
              </a:rPr>
              <a:t>role</a:t>
            </a:r>
            <a:endParaRPr lang="en-US" sz="900" dirty="0"/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6245719F-8CE6-012E-818F-E08847AE07C2}"/>
              </a:ext>
            </a:extLst>
          </p:cNvPr>
          <p:cNvSpPr/>
          <p:nvPr/>
        </p:nvSpPr>
        <p:spPr>
          <a:xfrm>
            <a:off x="2715768" y="1731808"/>
            <a:ext cx="1737360" cy="1573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Jelenleg csak képek (</a:t>
            </a:r>
            <a:r>
              <a:rPr lang="hu-HU" sz="850" dirty="0" err="1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Cloudinary</a:t>
            </a: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Jövőben: PDF, Word, Excel támogatás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Több fájl egyszerre feltölthető</a:t>
            </a:r>
            <a:endParaRPr lang="en-US" sz="85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8CAD2392-C01B-DDB1-61C6-BD91A0BAB01D}"/>
              </a:ext>
            </a:extLst>
          </p:cNvPr>
          <p:cNvSpPr/>
          <p:nvPr/>
        </p:nvSpPr>
        <p:spPr>
          <a:xfrm>
            <a:off x="4837176" y="1731808"/>
            <a:ext cx="1737360" cy="1573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alapú házi feladat kiértékelés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Tanár megoldás alapján pontozás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Automatikus visszajelzés generálás</a:t>
            </a:r>
            <a:endParaRPr lang="en-US" sz="850" dirty="0"/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D1690FAC-ECE1-9ED7-6434-9B57573E3ED6}"/>
              </a:ext>
            </a:extLst>
          </p:cNvPr>
          <p:cNvSpPr/>
          <p:nvPr/>
        </p:nvSpPr>
        <p:spPr>
          <a:xfrm>
            <a:off x="6958584" y="1731808"/>
            <a:ext cx="1737360" cy="1573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Új szerepkör: portás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kód alapú be/kilépés rögzítés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hu-HU" sz="850" dirty="0">
              <a:solidFill>
                <a:srgbClr val="5A7A72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hu-HU" sz="850" dirty="0">
                <a:solidFill>
                  <a:srgbClr val="5A7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Valós idejű jelenlét követés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9050739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F6356"/>
          </a:solidFill>
          <a:ln w="12700">
            <a:solidFill>
              <a:srgbClr val="2F635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E29"/>
                </a:solidFill>
              </a:rPr>
              <a:t>Luminé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114757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1500" dirty="0">
                <a:solidFill>
                  <a:srgbClr val="5A7A72"/>
                </a:solidFill>
              </a:rPr>
              <a:t>Köszönjük </a:t>
            </a:r>
            <a:r>
              <a:rPr lang="en-US" sz="1500" dirty="0">
                <a:solidFill>
                  <a:srgbClr val="5A7A72"/>
                </a:solidFill>
              </a:rPr>
              <a:t>a figyelmet!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48234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u-HU" sz="800" dirty="0">
                <a:solidFill>
                  <a:srgbClr val="5A7A72">
                    <a:alpha val="70000"/>
                  </a:srgbClr>
                </a:solidFill>
              </a:rPr>
              <a:t>Békéscsabai SZC  </a:t>
            </a:r>
            <a:r>
              <a:rPr lang="en-US" sz="800" dirty="0">
                <a:solidFill>
                  <a:srgbClr val="5A7A72">
                    <a:alpha val="70000"/>
                  </a:srgbClr>
                </a:solidFill>
              </a:rPr>
              <a:t>Nemes Tihamér </a:t>
            </a:r>
            <a:r>
              <a:rPr lang="en-US" sz="800" dirty="0" err="1">
                <a:solidFill>
                  <a:srgbClr val="5A7A72">
                    <a:alpha val="70000"/>
                  </a:srgbClr>
                </a:solidFill>
              </a:rPr>
              <a:t>Technikum</a:t>
            </a:r>
            <a:r>
              <a:rPr lang="en-US" sz="800" dirty="0">
                <a:solidFill>
                  <a:srgbClr val="5A7A72">
                    <a:alpha val="70000"/>
                  </a:srgbClr>
                </a:solidFill>
              </a:rPr>
              <a:t>   Békéscsaba   2025/2026</a:t>
            </a:r>
            <a:endParaRPr lang="en-US" sz="800" dirty="0"/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2273E240-29FF-86D3-AFCA-EDAC11DF0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186" y="1633898"/>
            <a:ext cx="2449628" cy="28740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1196</Words>
  <Application>Microsoft Office PowerPoint</Application>
  <PresentationFormat>Diavetítés a képernyőre (16:9 oldalarány)</PresentationFormat>
  <Paragraphs>296</Paragraphs>
  <Slides>37</Slides>
  <Notes>37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37</vt:i4>
      </vt:variant>
    </vt:vector>
  </HeadingPairs>
  <TitlesOfParts>
    <vt:vector size="40" baseType="lpstr">
      <vt:lpstr>Arial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Luminé – Iskolai Adminisztrációs Rendszer</dc:title>
  <dc:subject>PptxGenJS Presentation</dc:subject>
  <dc:creator>PptxGenJS</dc:creator>
  <cp:lastModifiedBy>Kurtucz Ferenc Krisztián</cp:lastModifiedBy>
  <cp:revision>140</cp:revision>
  <dcterms:created xsi:type="dcterms:W3CDTF">2026-05-14T08:33:55Z</dcterms:created>
  <dcterms:modified xsi:type="dcterms:W3CDTF">2026-05-15T10:47:52Z</dcterms:modified>
</cp:coreProperties>
</file>